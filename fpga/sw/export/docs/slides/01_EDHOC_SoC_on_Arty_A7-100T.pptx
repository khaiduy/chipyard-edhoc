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868" r:id="rId15"/>
    <p:sldId id="869" r:id="rId16"/>
    <p:sldId id="870" r:id="rId17"/>
    <p:sldId id="871" r:id="rId18"/>
    <p:sldId id="872" r:id="rId19"/>
    <p:sldId id="873" r:id="rId20"/>
    <p:sldId id="874" r:id="rId21"/>
    <p:sldId id="875" r:id="rId22"/>
    <p:sldId id="876" r:id="rId23"/>
    <p:sldId id="877" r:id="rId24"/>
    <p:sldId id="878" r:id="rId25"/>
    <p:sldId id="879" r:id="rId26"/>
    <p:sldId id="880" r:id="rId27"/>
    <p:sldId id="881" r:id="rId28"/>
    <p:sldId id="882" r:id="rId29"/>
    <p:sldId id="883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891" r:id="rId38"/>
    <p:sldId id="892" r:id="rId13"/>
    <p:sldId id="893" r:id="rId12"/>
    <p:sldId id="894" r:id="rId11"/>
    <p:sldId id="895" r:id="rId10"/>
    <p:sldId id="896" r:id="rId9"/>
    <p:sldId id="897" r:id="rId8"/>
    <p:sldId id="898" r:id="rId7"/>
    <p:sldId id="899" r:id="rId6"/>
    <p:sldId id="900" r:id="rId5"/>
    <p:sldId id="901" r:id="rId48"/>
    <p:sldId id="902" r:id="rId49"/>
    <p:sldId id="903" r:id="rId50"/>
    <p:sldId id="904" r:id="rId51"/>
    <p:sldId id="905" r:id="rId52"/>
    <p:sldId id="906" r:id="rId53"/>
    <p:sldId id="907" r:id="rId54"/>
    <p:sldId id="908" r:id="rId55"/>
    <p:sldId id="909" r:id="rId56"/>
    <p:sldId id="910" r:id="rId57"/>
    <p:sldId id="911" r:id="rId58"/>
    <p:sldId id="912" r:id="rId59"/>
    <p:sldId id="913" r:id="rId60"/>
    <p:sldId id="914" r:id="rId61"/>
    <p:sldId id="915" r:id="rId62"/>
    <p:sldId id="916" r:id="rId63"/>
    <p:sldId id="917" r:id="rId64"/>
    <p:sldId id="918" r:id="rId65"/>
    <p:sldId id="919" r:id="rId6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34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3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Image (code + data)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  <c:pt idx="9">
                  <c:v>TBD1</c:v>
                </c:pt>
                <c:pt idx="10">
                  <c:v>TBD2</c:v>
                </c:pt>
                <c:pt idx="11">
                  <c:v>TBD3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42291</c:v>
                </c:pt>
                <c:pt idx="1">
                  <c:v>42291</c:v>
                </c:pt>
                <c:pt idx="2">
                  <c:v>43739</c:v>
                </c:pt>
                <c:pt idx="3">
                  <c:v>43739</c:v>
                </c:pt>
                <c:pt idx="4">
                  <c:v>41653</c:v>
                </c:pt>
                <c:pt idx="5">
                  <c:v>43365</c:v>
                </c:pt>
                <c:pt idx="6">
                  <c:v>46361</c:v>
                </c:pt>
                <c:pt idx="7">
                  <c:v>47391</c:v>
                </c:pt>
                <c:pt idx="8">
                  <c:v>47913</c:v>
                </c:pt>
                <c:pt idx="9">
                  <c:v>32712</c:v>
                </c:pt>
                <c:pt idx="10">
                  <c:v>32876</c:v>
                </c:pt>
                <c:pt idx="11">
                  <c:v>37637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 reserve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s0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  <c:pt idx="7">
                  <c:v>s24</c:v>
                </c:pt>
                <c:pt idx="8">
                  <c:v>s25</c:v>
                </c:pt>
                <c:pt idx="9">
                  <c:v>TBD1</c:v>
                </c:pt>
                <c:pt idx="10">
                  <c:v>TBD2</c:v>
                </c:pt>
                <c:pt idx="11">
                  <c:v>TBD3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5376</c:v>
                </c:pt>
                <c:pt idx="1">
                  <c:v>5376</c:v>
                </c:pt>
                <c:pt idx="2">
                  <c:v>8448</c:v>
                </c:pt>
                <c:pt idx="3">
                  <c:v>8448</c:v>
                </c:pt>
                <c:pt idx="4">
                  <c:v>5376</c:v>
                </c:pt>
                <c:pt idx="5">
                  <c:v>8448</c:v>
                </c:pt>
                <c:pt idx="6">
                  <c:v>8448</c:v>
                </c:pt>
                <c:pt idx="7">
                  <c:v>11008</c:v>
                </c:pt>
                <c:pt idx="8">
                  <c:v>12544</c:v>
                </c:pt>
                <c:pt idx="9">
                  <c:v>22016</c:v>
                </c:pt>
                <c:pt idx="10">
                  <c:v>22016</c:v>
                </c:pt>
                <c:pt idx="11">
                  <c:v>23808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「Course」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EDHOC on a Rocket RV64 SoC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/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Khai-Duy Nguyen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 Lesson 1 」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  EDHOC SoC on Arty A7-100T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Today’s lecture purpose: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Turn the EDHOC hardware requirement into a Chipyard SoC: 64-bit Rocket, 8 KiB caches, 64 KiB on-chip RAM, GPIO / UART / JTAG / SPI.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Set up your PC and boards from a fresh clone, then map the SoC onto two Arty A7-100T boards: SD card, radio, UART and JTAG on the four PMOD ports.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Build the bitstream, close timing at 75 MHz, program both boards and check every peripheral with a test program.</a:t>
            </a:r>
          </a:p>
          <a:p>
            <a:r>
              <a:rPr sz="1800" b="0">
                <a:solidFill>
                  <a:srgbClr val="808080"/>
                </a:solidFill>
                <a:latin typeface="Times New Roman"/>
              </a:rPr>
              <a:t>Repository: github.com/Khaiduy/chipyard-edhoc (private: ask the author for access)   ·   paths are relative to its root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The learning path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20040" y="914400"/>
            <a:ext cx="1417320" cy="91440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Clone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02536" y="914400"/>
            <a:ext cx="1417320" cy="91440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Prepare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hardware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02536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L1, L2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737360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685032" y="914400"/>
            <a:ext cx="1417320" cy="9144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Run a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handshake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5032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L3, L4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419856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367528" y="914400"/>
            <a:ext cx="1417320" cy="9144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Understand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the bytes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67528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L3, L4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102352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050024" y="914400"/>
            <a:ext cx="1417320" cy="9144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Transfer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a file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0024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84848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732520" y="914400"/>
            <a:ext cx="1417320" cy="9144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Measure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20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L3–L5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67344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0415016" y="914400"/>
            <a:ext cx="1417320" cy="9144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Diagnose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failures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15016" y="1874519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808080"/>
                </a:solidFill>
                <a:latin typeface="Times New Roman"/>
              </a:rPr>
              <a:t>L2–L5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149840" y="1371600"/>
            <a:ext cx="265176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65760" y="246888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At the end of the course you can, with only these slides and the repository: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configure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your own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two boards (cables, consoles, wiring);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run one classical (RFC 9528) and one post-quantum (AuthKEM) handshake and explain the important output lines;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send a file from one SD card to the other and prove it arrived intact;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find the cause of a deliberately broken build or link, and restore it.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Lesson map: 1 hardware SoC · 2 software and first runs · 3 EDHOC · 4 post-quantum EDHOC · 5 file transfer, performance, diagnosis.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Equipment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731520"/>
                <a:gridCol w="594360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Qty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Notes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Digilent Arty A7-100T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one board per party (initiator A, responder 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micro-USB cable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power, FPGA programming and the console of each Arty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FTDI C232HM-DDHSL-0 USB–JTAG cable (3.3 V)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core debug on PMOD JD; leave its red VCC wire unconnected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microSD PMOD adapter (PmodSD) + microSD card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PMOD JA; any SDHC / SDXC card — it gets erased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MRF24J40MA 802.15.4 module on a PMOD adapter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PMOD JC; adapter: [part no.]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SD card reader (optional)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copy your own files; without one, sd_prep does it over JTAG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 jumper wires (optional)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wired UART1 link on PMOD JB (GND, TX↔RX crossed); 3× faster than the radio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Wiring of every PMOD, pin by pin: section 4 (2/8).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How everything is connected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63" name="Picture 62" descr="setup_two_bo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9326880" cy="5486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808080"/>
                </a:solidFill>
                <a:latin typeface="Times New Roman"/>
              </a:rPr>
              <a:t>Same wiring on both boards; the 3 UART wires on JB are optional (TRANSPORT=uart). Pin by pin: section 4 (2/8). Arty A7-35 shown; the A7-100T looks the same.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Software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194560"/>
                <a:gridCol w="4114800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Tested version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Needed for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Ubuntu (x86-64)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24.04 LTS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host PC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Vivado ML Standard (free) or Vivado Lab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2024.2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building (route A) and programming the FPGAs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Chipyard and its conda environment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1.11.0 + this fork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route A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riscv64-unknown-elf-gcc, rv64imac / lp64 multilib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15.1.0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all firmware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OpenOCD with RISC-V and FTDI support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0.12.0+dev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loading firmware over JTAG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Python 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3.11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host tests, timing tables, reference model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pip: pyfatfs pycryptodome cryptography kyber-py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FAT32 host test, AuthKEM reference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dosfstools (mkfs.vfat, fsck.fat)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FAT32 host test, mksd.sh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257800"/>
            <a:ext cx="11430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USB access without sudo: install Vivado's cable drivers (Digilent) and OpenOCD's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60-openocd.rules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(C232HM), and be in the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dialout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plugdev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groups for the consoles.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Other versions may work; these are the ones every result in the course came from.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Get the code — two routes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75" b="1">
                <a:solidFill>
                  <a:srgbClr val="808080"/>
                </a:solidFill>
                <a:latin typeface="Consolas"/>
              </a:rPr>
              <a:t>Run this — on your PC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git clone git@github.com:Khaiduy/chipyard-edhoc.git chipyard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cd chipyard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git checkout edhoc-course-v1     # the revision these slides describe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240279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3566160"/>
                <a:gridCol w="192024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Route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Your goal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Setup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Then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 — full hardware build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learn how the SoC is generated and placed on the FPGA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./build-setup.sh riscv-tools; source env.sh; ./scripts/init-fpga.sh; ./patches/apply.sh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Lesson 1 from section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 — firmware only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run and study the protocols on boards that already hold the EDHOC bitstream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cd fpga/sw/export; toolchain + OpenOCD (Lesson 2, section 1)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Lesson 1, section 6, then Lesson 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4206240"/>
            <a:ext cx="11430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repository is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private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: ask the author to add your GitHub account, then clone with your own SSH key.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No prebuilt bitstream ships with the course: route B needs a bitstream built from the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same revision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(route A), e.g. by your lab, written to the boards' flash or kept as a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.bit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firmware tree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fpga/sw/export/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is self-contained (all code vendored) and needs only the toolchain, OpenOCD and Python — not Chipyard.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Readiness check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36321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 — from the repository root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vivado -version | head -1                      # Vivado v2024.2 ...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riscv64-unknown-elf-gcc --version | head -1    # ... 15.1.0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openocd --version 2&gt;&amp;1 | head -1               # Open On-Chip Debugger 0.12.0 ...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fpga/sw/export &amp;&amp; ./common/board/list_boards.sh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460498"/>
            <a:ext cx="6858000" cy="128574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AAAAAA"/>
                </a:solidFill>
                <a:latin typeface="Consolas"/>
              </a:rPr>
              <a:t>Example output — our lab (your serials differ)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C232HM JTAG   FTA6GPSN  (C232HM-DDHSL-0)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Arty console  210319B4A439  /dev/ttyUSB4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C232HM JTAG   FTA6JVAK  (C232HM-DDHSL-0)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Arty console  210319B269F6  /dev/ttyUSB1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2374645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Expect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two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Arty lines, each with a tty, and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two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C232HM lines.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365760" y="4020564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1248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If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Check first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an Arty is missing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USB cable, board power switch, Vivado cable drivers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an Arty has no tty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dialout / plugdev group (log out and in), Vivado holding the port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 C232HM is missing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USB plug, OpenOCD udev rules (0403:6014)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How to read the practical slides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486400" cy="54864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808080"/>
                </a:solidFill>
                <a:latin typeface="Consolas"/>
              </a:rPr>
              <a:t>Run this — from fpga/sw/export/tests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make gpio_test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868680"/>
            <a:ext cx="5760720" cy="54864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Example output — board A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8BE98B"/>
                </a:solidFill>
                <a:latin typeface="Consolas"/>
              </a:rPr>
              <a:t>GPIO TEST: PASS (0 failures)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1828800"/>
            <a:ext cx="5486400" cy="54864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808080"/>
                </a:solidFill>
                <a:latin typeface="Consolas"/>
              </a:rPr>
              <a:t>Simplified — common/src/sd_card.c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while (busy) ...   /* shortened: not runnable */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2743200"/>
            <a:ext cx="11430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Run this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boxes are complete commands, in order, with the directory they start from.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Example output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boxes are real console text.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Simplified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boxes shorten source code with “...” — read them, do not paste them.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lab follows the same steps: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objective → starting state → commands → expected output → what it proves → if it fails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Serial numbers, tty names and times in examples come from our lab; yours differ. Lesson 2 shows how to set up your 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Here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Words used in this course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1645920"/>
                <a:gridCol w="39319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Term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Term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EDHOC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Ephemeral Diffie-Hellman Over COSE (RFC 9528)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AEAD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encryption + integrity tag (AES-CCM, AES-GCM, ChaCha20/Poly1305)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 / responder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board A / board B: who sends message_1 / who answers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KEM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key encapsulation: (ct, ss) = Encaps(pk); ss = Decaps(sk, ct)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set of algorithms (curve or KEM, hash, AEAD)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ML-KEM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NIST post-quantum KEM (FIPS 203)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how each side proves itself: signature or static DH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AuthKEM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post-quantum EDHOC, method 5 (IETF draft)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CBOR / COSE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compact binary encoding / its security formats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PRK_out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shared secret EDHOC ends with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CRED / ID_CRED / kid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public-key credential / a short reference to it / key id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TH_n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transcript hash: everything sent so far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PMOD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Digilent 12-pin expansion socket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PERF / STACK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console lines with timing / stack use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6235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Every later lesson uses these words without repeating them; come back here when one is unclear.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Requirements → Hardware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(1/4) What the design asks for, and what we chose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9144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4480560"/>
                <a:gridCol w="19202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Asked for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Built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Core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Rocket, 64-bit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Rocket RV64IMAC (small core)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L1 caches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8 KiB I$ + 8 KiB D$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8 KiB I$ + 8 KiB D$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32 KiB minimum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64 KiB on-chip scratchpad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code + stack, next slide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Peripherals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GPIO, UART, JTAG, SPI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8 GPIO, 2 UART, 3 SPI, JTAG debug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Clock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100 MHz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75 MHz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timing result, (3/4)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FPGA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Artix-7 100T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Arty A7-100T (xc7a100tcsg324-1)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Two items differ from what was asked; the next two slides show why, and how to check it yourself.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Board-to-board traffic goes over an MRF24J40 802.15.4 radio; files come from a microSD card.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Requirements → Hardware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(2/4) Why 64 KiB of RAM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777240"/>
          <a:ext cx="7498079" cy="5577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955279" y="914400"/>
            <a:ext cx="402336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Largest build of each cipher suite (EDHOC suites 0–25, post-quantum TBD1–3), in bytes.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Everything fits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64 KiB = 65,536 B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; largest: suite 25 = 60,457 B, TBD3 = 61,445 B.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Smallest build (suite 4, method 3) needs ≈ 32.4 KB with its stack: only method 3 of suites 0 / 1 / 4 fits 32 KiB, and barely.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Check any build yourself: Lesson 2, “Will my build fit?”.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requirement says “minimum 32 KiB”, so 64 KiB is within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Requirements → Hardware </a:t>
            </a:r>
            <a:r>
              <a:rPr lang="en-US" sz="3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(3/4) Why 75 MHz instead of 100 MHz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914400"/>
          <a:ext cx="112471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749039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Target clock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Worst slack (WNS)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Failing endpoints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100 MHz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−3.191 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4,372 of 24,321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Fmax ≈ 1 / 13.19 ns = 75.8 MHz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75 MHz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0.000 ns (met)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0 of 24,148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Used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57200" y="2743200"/>
            <a:ext cx="112471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critical path is inside the Rocket core, not in our peripherals: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fetch queue → RVC expander → decoder → hazard check → EX operand register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13 LUT levels, 83 % of the delay is routing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Result of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this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implementation (Vivado 2024.2, this config and flow, speed grade -1): 100 MHz failed timing, 75 MHz closes. A different flow, constraints or core configuration can change that — re-check after any change.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clock is set in one place, </a:t>
            </a:r>
            <a:r>
              <a:rPr sz="1700" b="0">
                <a:solidFill>
                  <a:srgbClr val="8B1A1A"/>
                </a:solidFill>
                <a:latin typeface="Consolas"/>
              </a:rPr>
              <a:t>WithTinyArty100TTweaks(75)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(section 3); the check is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report/timing.txt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(section 5).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Requirements → Hardware </a:t>
            </a:r>
            <a:r>
              <a:rPr lang="en-US" sz="3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(4/4) The two-board system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914400"/>
            <a:ext cx="539496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Board A — Initiator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Arty A7-100T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45919" y="1828800"/>
            <a:ext cx="2834640" cy="91440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Rocket RV64 · 75 MHz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64 KiB scratchpad · 8 KiB I$/D$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JA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microSD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73736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JB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UART1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10896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JC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MRF24J40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8056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JTAG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91840" y="4434840"/>
            <a:ext cx="2468880" cy="777240"/>
          </a:xfrm>
          <a:prstGeom prst="roundRect">
            <a:avLst/>
          </a:prstGeom>
          <a:solidFill>
            <a:srgbClr val="EEEEEE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PC: OpenOCD + C232HM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USB-UART console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93208" y="3977639"/>
            <a:ext cx="0" cy="457201"/>
          </a:xfrm>
          <a:prstGeom prst="line">
            <a:avLst/>
          </a:prstGeom>
          <a:ln w="25400">
            <a:solidFill>
              <a:srgbClr val="808080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400800" y="914400"/>
            <a:ext cx="539496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Board B — Responder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Arty A7-100T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80960" y="1828800"/>
            <a:ext cx="2834640" cy="91440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Rocket RV64 · 75 MHz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64 KiB scratchpad · 8 KiB I$/D$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JA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microSD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7240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JB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UART1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4400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JC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MRF24J40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15600" y="3108960"/>
            <a:ext cx="12344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JTAG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326880" y="4434840"/>
            <a:ext cx="2468880" cy="777240"/>
          </a:xfrm>
          <a:prstGeom prst="roundRect">
            <a:avLst/>
          </a:prstGeom>
          <a:solidFill>
            <a:srgbClr val="EEEEEE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PC: OpenOCD + C232HM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USB-UART console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1128248" y="3977639"/>
            <a:ext cx="0" cy="457201"/>
          </a:xfrm>
          <a:prstGeom prst="line">
            <a:avLst/>
          </a:prstGeom>
          <a:ln w="25400">
            <a:solidFill>
              <a:srgbClr val="808080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726180" y="2907792"/>
            <a:ext cx="0" cy="201168"/>
          </a:xfrm>
          <a:prstGeom prst="line">
            <a:avLst/>
          </a:prstGeom>
          <a:ln w="3810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761220" y="2907792"/>
            <a:ext cx="0" cy="201168"/>
          </a:xfrm>
          <a:prstGeom prst="line">
            <a:avLst/>
          </a:prstGeom>
          <a:ln w="3810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726180" y="2907792"/>
            <a:ext cx="6035040" cy="0"/>
          </a:xfrm>
          <a:prstGeom prst="line">
            <a:avLst/>
          </a:prstGeom>
          <a:ln w="38100">
            <a:solidFill>
              <a:srgbClr val="3786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526280" y="1874519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37863C"/>
                </a:solidFill>
                <a:latin typeface="Times New Roman"/>
              </a:rPr>
              <a:t>2.4 GHz IEEE 802.15.4 radio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7863C"/>
                </a:solidFill>
                <a:latin typeface="Times New Roman"/>
              </a:rPr>
              <a:t>EDHOC handshake + encrypted file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5394960"/>
            <a:ext cx="5760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Same bitstream on both boards; the firmware decides the role.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SD card on JA holds SEND.BIN (board A) and RECV.BIN (board B).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5349240"/>
            <a:ext cx="5394960" cy="1097280"/>
          </a:xfrm>
          <a:prstGeom prst="rect">
            <a:avLst/>
          </a:prstGeom>
          <a:solidFill>
            <a:srgbClr val="E7E6E6"/>
          </a:solidFill>
          <a:ln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08080"/>
                </a:solidFill>
                <a:latin typeface="Times New Roman"/>
              </a:rPr>
              <a:t>PHOTO</a:t>
            </a:r>
          </a:p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both boards wired: JA SD, JC radio, JD JTAG cable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(1/7) One config class builds the SoC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77724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bitstream is built from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EdhocRocket6475MHzArty100TConfig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in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fpga/src/main/scala/arty100t/Configs.scala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1554480"/>
            <a:ext cx="11430000" cy="150266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class EdhocRocket6475MHzArty100TConfig extends Config(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new WithArtyJCRadio ++                  // board-to-board link: MRF24J40 on PMOD JC (SPI1)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new WithTinyArty100TTweaks(75) ++       // Arty shell, peripherals, all bus clocks = 75 MHz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new chipyard.config.WithBroadcastManager ++   // coherence without an L2 cache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new chipyard.EdhocRocket64Config        // the SoC itself (next slide)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331464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Chipyard configs are a chain of fragments joined with </a:t>
            </a:r>
            <a:r>
              <a:rPr sz="1700" b="0">
                <a:solidFill>
                  <a:srgbClr val="8B1A1A"/>
                </a:solidFill>
                <a:latin typeface="Consolas"/>
              </a:rPr>
              <a:t>++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; a fragment on the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left overrides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the ones on its right.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Read it bottom-up: the SoC → how memory coherence works → the board shell and clock → the radio pin variant.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Same pattern as the Chipyard lecture (04: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MyRocketConfig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on Arty 35T), on the 100T board.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(2/7) EdhocRocket64Config: the SoC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73152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1">
                <a:solidFill>
                  <a:srgbClr val="000000"/>
                </a:solidFill>
                <a:latin typeface="Times New Roman"/>
              </a:rPr>
              <a:t>generators/chipyard/src/main/scala/config/EdhocConfigs.scala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1188720"/>
            <a:ext cx="6949440" cy="1656342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class EdhocRocket64Config extends Config(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new freechips.rocketchip.subsystem.WithL1ICacheSets(128) ++     // 8 KiB I-cache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freechips.rocketchip.subsystem.WithL1DCacheSets(128) ++   // 8 KiB D-cache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chipyard.harness.WithDontTouchChipTopPorts(false) ++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testchipip.soc.WithMbusScratchpad(base = 0x80000000L,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                                      size = BigInt(64 &lt;&lt; 10)) ++  // 64 KiB on-chip SRAM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freechips.rocketchip.subsystem.WithNoMemPort ++           // no DDR / off-chip memory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freechips.rocketchip.subsystem.WithNSmallCores(1) ++      // one small Rocket, RV64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freechips.rocketchip.subsystem.WithoutTLMonitors ++</a:t>
            </a:r>
          </a:p>
          <a:p>
            <a:pPr algn="l">
              <a:lnSpc>
                <a:spcPct val="100000"/>
              </a:lnSpc>
            </a:pPr>
            <a:r>
              <a:rPr sz="939">
                <a:solidFill>
                  <a:srgbClr val="1F1F1F"/>
                </a:solidFill>
                <a:latin typeface="Consolas"/>
              </a:rPr>
              <a:t>    new chipyard.config.AbstractConfig)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7498079" y="1188720"/>
          <a:ext cx="4480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Fragment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Effect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WithNSmallCores(1)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 Rocket tile, RV64IMAC, no FPU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WithL1I/DCacheSets(128)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128 sets → 8 KiB caches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WithMbusScratchpad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64 KiB SRAM at 0x8000_0000 (BRAM)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WithNoMemPort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 DDR: all code + data on chip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WithoutTLMonitors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smaller, faster (no protocol checkers)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Everything the firmware uses — code, data, stack — lives in the 64 KiB scratchpad. There is no external RAM on this SoC.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Arty’s 256 MB DDR3 is left unused: the requirement asks for on-chip RAM, and the whole firmware fits on chip.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(3/7) Cache size and fragment order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8640" y="1097280"/>
            <a:ext cx="182880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128 sets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11887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000000"/>
                </a:solidFill>
                <a:latin typeface="Times New Roman"/>
              </a:rPr>
              <a:t>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34640" y="1097280"/>
            <a:ext cx="182880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1 way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11887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000000"/>
                </a:solidFill>
                <a:latin typeface="Times New Roman"/>
              </a:rPr>
              <a:t>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20640" y="1097280"/>
            <a:ext cx="182880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64 B / 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11887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000000"/>
                </a:solidFill>
                <a:latin typeface="Times New Roman"/>
              </a:rPr>
              <a:t>=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06640" y="1097280"/>
            <a:ext cx="2377440" cy="731520"/>
          </a:xfrm>
          <a:prstGeom prst="roundRect">
            <a:avLst/>
          </a:prstGeom>
          <a:solidFill>
            <a:srgbClr val="C5E0B4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8 KiB per cache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2194560"/>
            <a:ext cx="112471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8B1A1A"/>
                </a:solidFill>
                <a:latin typeface="Consolas"/>
              </a:rPr>
              <a:t>WithNSmallCores(1)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creates the tile with small default caches; </a:t>
            </a:r>
            <a:r>
              <a:rPr sz="1700" b="0">
                <a:solidFill>
                  <a:srgbClr val="8B1A1A"/>
                </a:solidFill>
                <a:latin typeface="Consolas"/>
              </a:rPr>
              <a:t>WithL1ICacheSets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700" b="0">
                <a:solidFill>
                  <a:srgbClr val="8B1A1A"/>
                </a:solidFill>
                <a:latin typeface="Consolas"/>
              </a:rPr>
              <a:t>WithL1DCacheSets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rewrite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those tile parameters.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 rewrite only sees tiles that already exist, so the cache fragments must stay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to the left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of </a:t>
            </a:r>
            <a:r>
              <a:rPr sz="1700" b="0">
                <a:solidFill>
                  <a:srgbClr val="8B1A1A"/>
                </a:solidFill>
                <a:latin typeface="Consolas"/>
              </a:rPr>
              <a:t>WithNSmallCores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in the chain.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Wrong order builds without error but gives the default cache size — check the generated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.dts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/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.json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or the utilization report after a change.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Small core = RV64IMAC: integer, multiply/divide, atomics, compressed; no floating point (the firmware is integer-only).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(4/7) Memory map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8686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2560320"/>
                <a:gridCol w="57607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Address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Size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Device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Used for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0x0000_0000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Debug module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JTAG debugging / program loading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0x0001_0000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Boot ROM (sdboot)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copies the firmware from the SD card at reset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0x0200_0000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CLINT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timer, software interrupts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0x0C00_0000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64 MiB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PLIC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external interrupts (unused by the firmware)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UART0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USB-UART console, 57600 baud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0x6400_1000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microSD card (PMOD JA)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0x6400_2000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GPIO, 8 pins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LEDs, RGB LED, radio ~RST / 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0x6400_3000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UART1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PMOD JB (optional wired link)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0x6400_5000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0x6400_6000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 radio (PMOD JC)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0x8000_0000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64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Scratchpad SRAM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code, data and stack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The firmware’s </a:t>
            </a:r>
            <a:r>
              <a:rPr sz="1600" b="0" i="1">
                <a:solidFill>
                  <a:srgbClr val="808080"/>
                </a:solidFill>
                <a:latin typeface="Times New Roman"/>
              </a:rPr>
              <a:t>common/include/platform.h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 uses the same addresses.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(5/7) Peripherals and their addresses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241681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808080"/>
                </a:solidFill>
                <a:latin typeface="Consolas"/>
              </a:rPr>
              <a:t>fpga/src/main/scala/arty100t/Configs.scala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class WithDefaultPeripherals extends Config((site, here, up) =&gt; 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case PeripheryUARTKey =&gt; List(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UARTParams(address = BigInt(0x64000000L)),  // UART0 - USB UART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UARTParams(address = BigInt(0x64003000L)))  // UART1 - PMOD JB (with the radio)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case PeripherySPIKey =&gt; List(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SPIParams(rAddress = BigInt(0x64001000L)),  // SPI0 - SD card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SPIParams(rAddress = BigInt(0x64006000L)),  // SPI1 - radio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SPIParams(rAddress = BigInt(0x64005000L)))  // SPI2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case PeripheryGPIOKey =&gt; List(GPIOParams(address = BigInt(0x64002000L), width = 8))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})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559809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UART, SPI and GPIO blocks are SiFive’s open-source peripherals (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sifive-blocks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), the same as in the Chipyard lecture (04).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Each list entry is one controller instance; the list index is the port number used by the overlays in section 3 (SPI0 → JA, SPI1 → JC).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Addresses are free to choose inside the peripheral bus window; keep them in step with the firmware headers.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(6/7) One clock for the whole SoC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315200" cy="26974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50" b="1">
                <a:solidFill>
                  <a:srgbClr val="808080"/>
                </a:solidFill>
                <a:latin typeface="Consolas"/>
              </a:rPr>
              <a:t>fpga/src/main/scala/arty100t/Configs.scala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class WithTinyArty100TTweaks(freqMHz: Double = 50) extends Config(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chipyard.harness.WithHarnessBinderClockFreqMHz(freqMHz)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chipyard.config.WithMemoryBusFrequency(freqMHz)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chipyard.config.WithFrontBusFrequency(freqMHz)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chipyard.config.WithSystemBusFrequency(freqMHz)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chipyard.config.WithPeripheryBusFrequency(freqMHz)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chipyard.config.WithControlBusFrequency(freqMHz)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chipyard.config.WithOffchipBusFrequency(freqMHz)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chipyard.clocking.WithPassthroughClockGenerator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WithArty100TUARTHarnessBinder ++ new WithArty100TSPISDCardHarnessBinder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WithArty100TJTAGHarnessBinder ++ new WithArty100TGPIOHarnessBinder ++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...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F1F1F"/>
                </a:solidFill>
                <a:latin typeface="Consolas"/>
              </a:rPr>
              <a:t>  new WithDefaultPeripherals ++ new WithSystemModifications ++ ...)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91440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500" b="0">
                <a:solidFill>
                  <a:srgbClr val="8B1A1A"/>
                </a:solidFill>
                <a:latin typeface="Consolas"/>
              </a:rPr>
              <a:t>(75)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sets all seven bus clocks at once.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Chipyard 1.11 added front / control / off-chip bus clocks that default to 500 MHz; every bus in the clock group must ask for the same frequency.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board’s 100 MHz oscillator (pin E3) feeds a PLL that makes 75 MHz.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84048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Firmware must know the clock too: </a:t>
            </a:r>
            <a:r>
              <a:rPr sz="1500" b="0">
                <a:solidFill>
                  <a:srgbClr val="8B1A1A"/>
                </a:solidFill>
                <a:latin typeface="Consolas"/>
              </a:rPr>
              <a:t>PERF_CPU_HZ</a:t>
            </a:r>
            <a:r>
              <a:rPr sz="1700" b="0">
                <a:solidFill>
                  <a:srgbClr val="808080"/>
                </a:solidFill>
                <a:latin typeface="Times New Roman"/>
              </a:rPr>
              <a:t> / </a:t>
            </a:r>
            <a:r>
              <a:rPr sz="1500" b="0">
                <a:solidFill>
                  <a:srgbClr val="8B1A1A"/>
                </a:solidFill>
                <a:latin typeface="Consolas"/>
              </a:rPr>
              <a:t>F_CPU</a:t>
            </a:r>
            <a:r>
              <a:rPr sz="1700" b="0">
                <a:solidFill>
                  <a:srgbClr val="808080"/>
                </a:solidFill>
                <a:latin typeface="Times New Roman"/>
              </a:rPr>
              <a:t> = 75000000 (UART divider, SPI dividers, timing reports).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 Configuration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(7/7) Boot ROM rebuilt for RV64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241681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808080"/>
                </a:solidFill>
                <a:latin typeface="Consolas"/>
              </a:rPr>
              <a:t>fpga/src/main/scala/arty100t/Configs.scala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class WithSystemModifications extends Config((site, here, up) =&gt; 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case BootROMLocated(x) =&gt; up(BootROMLocated(x), site).map{ p =&gt;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val freqMHz = (site(SystemBusKey).dtsFrequency.get / (1000 * 1000)).toLong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val make = s"make -C fpga/src/main/resources/arty35t/sdboot " +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s"XLEN=${site(XLen)} PBUS_CLK=${freqMHz}"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require (make.! == 0, "Failed to build bootrom")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p.copy(hang = 0x10000, size = 0x2000,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contentFileName = s"./fpga/src/main/resources/arty35t/sdboot/build/sdboot.bin")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...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559809"/>
            <a:ext cx="114300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Every bitstream build recompiles the boot ROM for the core width (</a:t>
            </a:r>
            <a:r>
              <a:rPr sz="1700" b="0">
                <a:solidFill>
                  <a:srgbClr val="8B1A1A"/>
                </a:solidFill>
                <a:latin typeface="Consolas"/>
              </a:rPr>
              <a:t>XLEN=64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) and the bus clock (</a:t>
            </a:r>
            <a:r>
              <a:rPr sz="1700" b="0">
                <a:solidFill>
                  <a:srgbClr val="8B1A1A"/>
                </a:solidFill>
                <a:latin typeface="Consolas"/>
              </a:rPr>
              <a:t>PBUS_CLK=75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At reset the boot ROM copies the firmware from the SD card (LBA 2048) into the scratchpad and jumps to 0x8000_0000.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During development we skip it: firmware is loaded over JTAG in seconds (section 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PMOD map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377440"/>
                <a:gridCol w="2468880"/>
                <a:gridCol w="57607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PMOD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Controller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Pins (PMOD pin: FPGA pin)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microSD (PmodSD)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SPI0 @0x6400_1000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CS: G13 · 2 MOSI: B11 · 3 MISO: A11 · 4 SCK: D12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UART1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UART1 @0x6400_3000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RX: E15 · 2 TX: E16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MRF24J40 radio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SPI1 @0x6400_6000 + GPIO 5 / 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CS: U12 · 2 MOSI: V12 · 3 MISO: V10 · 4 SCK: V11 · 7 INT: U14 · 8 ~RST: V14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JTAG (C232HM cable)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Debug module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TDI: D4 · 2 TMS: D3 · 3 TCK: F4 · 4 TDO: F3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pic>
        <p:nvPicPr>
          <p:cNvPr id="64" name="Picture 63" descr="arty_pm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23360"/>
            <a:ext cx="3210016" cy="2468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126480" y="4114800"/>
            <a:ext cx="5669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Same wiring on both boards.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JC used to carry UART1; it moved to JB to free JC for the radio.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USB-UART console (UART0) uses the on-board FTDI chip, no PMOD.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Wiring: pin numbers, direction, power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7200" y="96012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71600" y="96012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86000" y="96012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0" y="96012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0" y="960120"/>
            <a:ext cx="822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5 GND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0" y="960120"/>
            <a:ext cx="822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6 3.3V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150876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0" y="150876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86000" y="150876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0" y="1508760"/>
            <a:ext cx="822960" cy="45720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0" y="1508760"/>
            <a:ext cx="822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11 GND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0" y="1508760"/>
            <a:ext cx="822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12 3.3V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914400"/>
            <a:ext cx="5852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Every PMOD is a 2 × 6 socket: top row 1–6, bottom row 7–12. Pins 5 / 11 are GND, 6 / 12 are 3.3 V. Pin 1 is marked on the board's silkscreen.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365760" y="224028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2743200"/>
                <a:gridCol w="393192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PMOD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FPGA → module (outputs)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module → FPGA (inputs)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Power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JA  SD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CS, 2 MOSI, 4 SCK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 MISO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 GND, 6 3.3 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JB  UART1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 TX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RX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 GND; to the other board: TX → RX, RX ← TX, GND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JC  radio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CS, 2 MOSI, 4 SCK, 8 ~RST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 MISO, 7 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 / 11 GND, 6 / 12 3.3 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  JTAG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TDO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 TDI, 2 TMS, 3 TCK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 GND (black wire); red VCC unconnected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365760" y="507492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Same wiring on both boards. The SD and radio modules take 3.3 V from the PMOD; the C232HM only shares ground.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Check before power-on: every module's GND on pin 5 (and 11), no 5 V anywhere.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From SoC port to FPGA pin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1143000"/>
            <a:ext cx="2560320" cy="118872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DigitalTop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SoC: UART, SPI,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GPIO, JTAG ports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91840" y="1143000"/>
            <a:ext cx="256032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IOBinder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port → IO cell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(ChipTop)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926080" y="173736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217920" y="1143000"/>
            <a:ext cx="256032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HarnessBinder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IO cell → shell port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(Arty100TWithoutDDRHarness)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52160" y="173736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144000" y="1143000"/>
            <a:ext cx="2560320" cy="118872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Shell overlay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shell port → package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pin + IO standard (XDC)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778240" y="1737360"/>
            <a:ext cx="36576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365760" y="26517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40664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File (fpga/src/main/scala/arty100t/)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What we changed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Configs.scala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 configs, peripherals, clock tweak, radio switch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IOBinders.scala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SPI / GPIO punch-through ports (WithArtySPIIOPunchthrough)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HarnessBinders.scala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UART, SPI-SD, JTAG (PMOD JD), GPIO binders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CustomShell.scala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shell with 3 SPI overlays, 2 UARTs, JTAG, GPIO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CustomOverlay.scala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package pins of every overlay (next slides)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365760" y="576072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Same three levels as in the Chipyard lecture (04): DigitalTop → ChipTop → ChipHarness.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SD card on PMOD JA (SPI0)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6400800" cy="141020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14" b="1">
                <a:solidFill>
                  <a:srgbClr val="808080"/>
                </a:solidFill>
                <a:latin typeface="Consolas"/>
              </a:rPr>
              <a:t>CustomOverlay.scala — SDIOArtyPlacedOverlay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case 0 =&gt; Seq(("D12", IOPin(io.spi_clk)),    // SPI0 - PMOD JA (SD card)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              ("B11", IOPin(io.spi_cs)),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              ("A11", IOPin(io.spi_dat(0))),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              ("D13", IOPin(io.spi_dat(1))),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              ("B18", IOPin(io.spi_dat(2))),</a:t>
            </a:r>
          </a:p>
          <a:p>
            <a:pPr algn="l">
              <a:lnSpc>
                <a:spcPct val="100000"/>
              </a:lnSpc>
            </a:pPr>
            <a:r>
              <a:rPr sz="1114">
                <a:solidFill>
                  <a:srgbClr val="1F1F1F"/>
                </a:solidFill>
                <a:latin typeface="Consolas"/>
              </a:rPr>
              <a:t>              ("G13", IOPin(io.spi_dat(3))))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461767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097280"/>
                <a:gridCol w="12801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Overlay pin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Carries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PMOD pin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PmodSD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G13  spi_dat(3)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chip select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JA1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B11  spi_cs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MOSI (command)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JA2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MOSI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A11  spi_dat(0)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MISO (data 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JA3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MISO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D12  spi_clk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clock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JA4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SCK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6949440" y="914400"/>
            <a:ext cx="49377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SDIO overlay uses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SD-card pin names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: the pin called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spi_cs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carries MOSI, and CS goes out on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dat(3)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Pull-ups on CS, MOSI and MISO.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Same pins as upstream Chipyard’s Arty 100T SD slot.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Card init at ~150 kHz, data at ~2.3 MHz (SPI mode).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623560"/>
            <a:ext cx="6400800" cy="777240"/>
          </a:xfrm>
          <a:prstGeom prst="rect">
            <a:avLst/>
          </a:prstGeom>
          <a:solidFill>
            <a:srgbClr val="E7E6E6"/>
          </a:solidFill>
          <a:ln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08080"/>
                </a:solidFill>
                <a:latin typeface="Times New Roman"/>
              </a:rPr>
              <a:t>PHOTO</a:t>
            </a:r>
          </a:p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PmodSD with microSD card on JA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MRF24J40 radio on PMOD JC (SPI1 + GPIO)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6035040" cy="1619873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44" b="1">
                <a:solidFill>
                  <a:srgbClr val="808080"/>
                </a:solidFill>
                <a:latin typeface="Consolas"/>
              </a:rPr>
              <a:t>CustomOverlay.scala — SPI1 with the radio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case 1 if shell.p(ArtyJCRadioKey) =&gt;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Seq(("V11", IOPin(io.spi_clk)),    // JC4 SCK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    ("V12", IOPin(io.spi_cs)),     // JC2 MOSI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    ("V10", IOPin(io.spi_dat(0))), // JC3 MISO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    ("F6",  IOPin(io.spi_dat(1))), // unused (freed RGB LED pin)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    ("G4",  IOPin(io.spi_dat(2))), // unused (freed RGB LED pin)</a:t>
            </a:r>
          </a:p>
          <a:p>
            <a:pPr algn="l">
              <a:lnSpc>
                <a:spcPct val="100000"/>
              </a:lnSpc>
            </a:pPr>
            <a:r>
              <a:rPr sz="1144">
                <a:solidFill>
                  <a:srgbClr val="1F1F1F"/>
                </a:solidFill>
                <a:latin typeface="Consolas"/>
              </a:rPr>
              <a:t>      ("U12", IOPin(io.spi_dat(3)))) // JC1 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671433"/>
            <a:ext cx="6035040" cy="129844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808080"/>
                </a:solidFill>
                <a:latin typeface="Consolas"/>
              </a:rPr>
              <a:t>CustomOverlay.scala — GPIO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val gpioLocations = List("H5", "J5", "T9", "T10",  // 4 LEDs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                         "E1",                     // RGB LED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                         if (radio) "V14" else "F6", // JC8 ~RST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                         "G6",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1F1F1F"/>
                </a:solidFill>
                <a:latin typeface="Consolas"/>
              </a:rPr>
              <a:t>                         if (radio) "U14" else "G4") // JC7 INT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91440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500" b="0">
                <a:solidFill>
                  <a:srgbClr val="8B1A1A"/>
                </a:solidFill>
                <a:latin typeface="Consolas"/>
              </a:rPr>
              <a:t>WithArtyJCRadio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sets </a:t>
            </a:r>
            <a:r>
              <a:rPr sz="1500" b="0">
                <a:solidFill>
                  <a:srgbClr val="8B1A1A"/>
                </a:solidFill>
                <a:latin typeface="Consolas"/>
              </a:rPr>
              <a:t>ArtyJCRadioKey = true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; the overlays then pick the radio pinout.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MRF24J40MA: IEEE 802.15.4, 2.4 GHz, 250 kbit/s; SPI at 4.7 MHz.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GPIO 5 drives the radio’s reset, GPIO 7 reads its interrupt line (polled).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Two RGB-LED pins are given up for this.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152761"/>
            <a:ext cx="6035040" cy="960120"/>
          </a:xfrm>
          <a:prstGeom prst="rect">
            <a:avLst/>
          </a:prstGeom>
          <a:solidFill>
            <a:srgbClr val="E7E6E6"/>
          </a:solidFill>
          <a:ln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08080"/>
                </a:solidFill>
                <a:latin typeface="Times New Roman"/>
              </a:rPr>
              <a:t>PHOTO</a:t>
            </a:r>
          </a:p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MRF24J40MA module on PMOD JC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9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29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UART0 console and UART1 on PMOD JB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680960" cy="2568982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73" b="1">
                <a:solidFill>
                  <a:srgbClr val="808080"/>
                </a:solidFill>
                <a:latin typeface="Consolas"/>
              </a:rPr>
              <a:t>CustomOverlay.scala — UARTArtyPlacedOverlay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2E7D32"/>
                </a:solidFill>
                <a:latin typeface="Consolas"/>
              </a:rPr>
              <a:t>// UART0: USB UART (A9=RX, D10=TX)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2E7D32"/>
                </a:solidFill>
                <a:latin typeface="Consolas"/>
              </a:rPr>
              <a:t>// UART1: PMOD C (U12=RX, V12=TX), or PMOD B (E15=RX, E16=TX) with the radio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val packagePinsWithPackageIOs = shellInput.index match {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case 0 =&gt; Seq(("A9",  IOPin(io.rxd)),    // USB UART RX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              ("D10", IOPin(io.txd)))    // USB UART TX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case 1 if shell.p(ArtyJCRadioKey) =&gt; Seq(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              ("E15", IOPin(io.rxd)),    // PMOD B JB1 - RX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              ("E16", IOPin(io.txd)))    // PMOD B JB2 - TX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case 1 =&gt; Seq(("U12", IOPin(io.rxd)),    // PMOD C JC1 - RX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                ("V12", IOPin(io.txd)))    // PMOD C JC2 - TX</a:t>
            </a:r>
          </a:p>
          <a:p>
            <a:pPr algn="l">
              <a:lnSpc>
                <a:spcPct val="100000"/>
              </a:lnSpc>
            </a:pPr>
            <a:r>
              <a:rPr sz="1273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914400"/>
            <a:ext cx="3749039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UART0 = console through the board’s USB port, 57600 baud, 8N1.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UART1 = optional wired link between the boards (TRANSPORT=uart).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With the radio, UART1 moves from JC to JB.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711982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Each board shows up as two ttyUSB devices; the console is interface 1 of the Digilent FTDI. Find it by serial number, because ttyUSB numbers change when Vivado or OpenOCD opens a port (section 5).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9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29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JTAG on PMOD JD with a C232HM cable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33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6675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C232HM wire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FTDI pin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Signal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PMOD JD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FPGA pin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Orange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ADBUS0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Yellow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ADBUS1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TDI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Green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ADBUS2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TDO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Brown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ADBUS3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TMS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Black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JD5 (GND)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3886200"/>
            <a:ext cx="6675120" cy="1611121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808080"/>
                </a:solidFill>
                <a:latin typeface="Consolas"/>
              </a:rPr>
              <a:t>fpga/sw/export/common/board/c232hm.cfg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source [find interface/ftdi/c232hm.cfg]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transport select jtag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adapter speed 1000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2E7D32"/>
                </a:solidFill>
                <a:latin typeface="Consolas"/>
              </a:rPr>
              <a:t># RISC-V debug DTM: 5-bit IR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jtag newtap riscv tap -irlen 5 -ignore-version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target create riscv.cpu riscv -chain-position riscv.tap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91440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core’s debug module is wired to PMOD JD, not to the board’s USB JTAG (that one programs the FPGA).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One C232HM per board; scripts pick the cable by its FTDI serial (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common/board/boards.env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JTAG clock 1 MHz (</a:t>
            </a:r>
            <a:r>
              <a:rPr sz="1500" b="0">
                <a:solidFill>
                  <a:srgbClr val="8B1A1A"/>
                </a:solidFill>
                <a:latin typeface="Consolas"/>
              </a:rPr>
              <a:t>adapter speed 1000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23760" y="4846320"/>
            <a:ext cx="4754880" cy="1554480"/>
          </a:xfrm>
          <a:prstGeom prst="rect">
            <a:avLst/>
          </a:prstGeom>
          <a:solidFill>
            <a:srgbClr val="E7E6E6"/>
          </a:solidFill>
          <a:ln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08080"/>
                </a:solidFill>
                <a:latin typeface="Times New Roman"/>
              </a:rPr>
              <a:t>PHOTO</a:t>
            </a:r>
          </a:p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C232HM cable on PMOD JD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FPGA Pins &amp; Harness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Makefile entry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23703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fpga/Makefile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ifeq ($(SUB_PROJECT),arty100t)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SBT_PROJECT       ?= fpga_platforms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MODEL             ?= Arty100TWithoutDDRHarness   # was Arty100THarness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VLOG_MODEL        ?= Arty100TWithoutDDRHarness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MODEL_PACKAGE     ?= chipyard.fpga.arty100t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CONFIG            ?= SmallRocket32Arty100TConfig  # default; override on the command line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CONFIG_PACKAGE    ?= chipyard.fpga.arty100t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GENERATOR_PACKAGE ?= chipyard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...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3513328"/>
            <a:ext cx="114300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8B1A1A"/>
                </a:solidFill>
                <a:latin typeface="Consolas"/>
              </a:rPr>
              <a:t>SUB_PROJECT ?= arty100t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is now the default sub-project (upstream: vcu118).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Arty100TWithoutDDRHarness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: our harness without the DDR3 controller (the SoC has no memory port).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EDHOC config is chosen at build time: </a:t>
            </a:r>
            <a:r>
              <a:rPr sz="1700" b="0">
                <a:solidFill>
                  <a:srgbClr val="8B1A1A"/>
                </a:solidFill>
                <a:latin typeface="Consolas"/>
              </a:rPr>
              <a:t>CONFIG=EdhocRocket6475MHzArty100TConfig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(next section).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&amp; Timing Closure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Build the bitstream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1430000" cy="1688592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600" b="1">
                <a:solidFill>
                  <a:srgbClr val="808080"/>
                </a:solidFill>
                <a:latin typeface="Consolas"/>
              </a:rPr>
              <a:t>Run this — about 1 h on a recent PC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F1F1F"/>
                </a:solidFill>
                <a:latin typeface="Consolas"/>
              </a:rPr>
              <a:t>cd chipyard                # repository root, route A set up (section 1)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F1F1F"/>
                </a:solidFill>
                <a:latin typeface="Consolas"/>
              </a:rPr>
              <a:t>source env.sh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F1F1F"/>
                </a:solidFill>
                <a:latin typeface="Consolas"/>
              </a:rPr>
              <a:t>cd fpga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F1F1F"/>
                </a:solidFill>
                <a:latin typeface="Consolas"/>
              </a:rPr>
              <a:t>make SUB_PROJECT=arty100t CONFIG=EdhocRocket6475MHzArty100TConfig bitstream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F1F1F"/>
                </a:solidFill>
                <a:latin typeface="Consolas"/>
              </a:rPr>
              <a:t>echo $?                    # 0 = done; 2 = timing failed (a .bit is still written)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877312"/>
            <a:ext cx="114300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Output folder: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fpga/generated-src/chipyard.fpga.arty100t.Arty100TWithoutDDRHarness.EdhocRocket6475MHzArty100TConfig/obj/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Arty100TWithoutDDRHarness.bit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— the bitstream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report/timing.txt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report/utilization.txt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— check these after every build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post_opt.dcp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post_route.dcp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— checkpoints for timing closure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Careful: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if timing fails, make stops with exit code 2 but still writes the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.bit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file. Always read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timing.txt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before using a new bitstream.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&amp; Timing Closure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Resources used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9144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2103120"/>
                <a:gridCol w="11887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Resource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Used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Available (XC7A100T)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Use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Slice LUTs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14,672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63,400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23.1 %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Flip-flops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6,716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126,800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5.3 %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Block RAM (36 Kb)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34 + 10 half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28.9 %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DSP slices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240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4.2 %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863840" y="914400"/>
            <a:ext cx="4114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16 of the 34 block RAMs are the 64 KiB scratchpad (16 × 4 KiB).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rest: caches, boot ROM, peripheral FIFOs.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Plenty of room left: in this build, timing, not area, was the constraint.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From </a:t>
            </a:r>
            <a:r>
              <a:rPr sz="1600" b="0" i="1">
                <a:solidFill>
                  <a:srgbClr val="808080"/>
                </a:solidFill>
                <a:latin typeface="Times New Roman"/>
              </a:rPr>
              <a:t>report/utilization.txt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 (</a:t>
            </a:r>
            <a:r>
              <a:rPr sz="1400" b="0">
                <a:solidFill>
                  <a:srgbClr val="8B1A1A"/>
                </a:solidFill>
                <a:latin typeface="Consolas"/>
              </a:rPr>
              <a:t>report_utilization -hierarchical</a:t>
            </a:r>
            <a:r>
              <a:rPr sz="1600" b="0">
                <a:solidFill>
                  <a:srgbClr val="808080"/>
                </a:solidFill>
                <a:latin typeface="Times New Roman"/>
              </a:rPr>
              <a:t>):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297680"/>
            <a:ext cx="11430000" cy="1130808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| Instance                  | Module         | Total LUTs |  FFs | RAMB36 | RAMB18 | DSP |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| Arty100TWithoutDDRHarness |          (top) |      14672 | 6716 |     34 |     10 |  10 |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|   chiptop0                | ChipTop        |      14666 | 6630 |     34 |     10 |  10 |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|     system                | DigitalTop     |      14663 | 6624 |     34 |     10 |  10 |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|       bank                | ScratchpadBank |         67 |  109 |     16 |      0 |   0 |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&amp; Timing Closure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Reading the timing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 i="1">
                <a:solidFill>
                  <a:srgbClr val="000000"/>
                </a:solidFill>
                <a:latin typeface="Times New Roman"/>
              </a:rPr>
              <a:t>report/timing.txt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— Design Timing Summary, 75 MHz build: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1280160"/>
            <a:ext cx="11430000" cy="1130808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WNS(ns)  TNS(ns)  TNS Failing Endpoints  TNS Total Endpoints   WHS(ns)  THS(ns)  THS Failing Endpoints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0.000    0.000                      0                24148     0.000    0.000                      0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Clock                      WNS(ns)  TNS(ns)  TNS Failing  TNS Total   WHS(ns)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clk_out1_harnessSysPLL     0.000    0.000            0      23458     0.000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JTCK                        41.206    0.000            0        548     0.140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259384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Same report for the 100 MHz attempt (EdhocRocket64100MHzArty100TConfig):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096767"/>
            <a:ext cx="11430000" cy="573024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WNS(ns)    TNS(ns)  TNS Failing Endpoints  TNS Total Endpoints   WHS(ns)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-3.191  -5498.651                   4372                24321     0.018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3944111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WNS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(worst negative slack) ≥ 0 and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0 failing endpoints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for setup (TNS) and hold (THS) = timing met.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clk_out1_harnessSysPLL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is the 75 MHz system clock;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JTCK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is the JTAG clock from PMOD JD (10 MHz constraint, easily met).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&amp; Timing Closure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When timing fails: the closure recipe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2296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75 MHz is close to the limit (≈ 75.8 MHz). Any pin change moves placement and can flip the result: our radio-pin build first came out at −0.166 ns.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Recipe used to close it, starting from the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post_opt.dcp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checkpoint in Vivado: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331720"/>
            <a:ext cx="7498079" cy="2013966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open_checkpoint obj/post_opt.dcp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place_design    -directive Explore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phys_opt_design -directive AlternateFlowWithRetiming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route_design    -directive AggressiveExplore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phys_opt_design -directive Explore              ;# -0.062 ns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route_design -directive AggressiveExplore -tns_cleanup ;# -0.162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phys_opt_design -directive Explore              ;# +0.015 met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report_timing_summary -file timing.txt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write_bitstream Arty100TWithoutDDRHarness.bit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2331720"/>
            <a:ext cx="3931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Hold met too (+0.027 ns).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Over-constraining placement (extra clock uncertainty) made it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worse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Vivado 2024.2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phys_opt_design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sometimes crashes after routing (exit 139): run each attempt as its own process from a checkpoint.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&amp; Timing Closure </a:t>
            </a:r>
            <a:r>
              <a:rPr lang="en-US" sz="3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How to accept a new bitstream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5029200"/>
              </a:tblGrid>
              <a:tr h="49638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Look at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Accept when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 Build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exit status of make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 (2 = timing failed, even though a .bit exists)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2. Timing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Design Timing Summary in report/timing.txt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WNS ≥ 0 and WHS ≥ 0, 0 failing endpoints (TNS and THS)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 Area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report/utilization.txt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ScratchpadBank uses 16 RAMB36 (64 KiB)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4. Program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program_two.tcl (section 6)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PROGRAMMED &lt;serial&gt; for both boards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5. Bring-up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jtag, gpio, spi, uart tests (section 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each ends in PASS; jtag_test shows MXL = 2, ACIMX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6. Keep it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copy the .bit with config name and date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4526280"/>
            <a:ext cx="11430000" cy="83184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56" b="1">
                <a:solidFill>
                  <a:srgbClr val="808080"/>
                </a:solidFill>
                <a:latin typeface="Consolas"/>
              </a:rPr>
              <a:t>Run this — step 2</a:t>
            </a:r>
          </a:p>
          <a:p>
            <a:pPr algn="l">
              <a:lnSpc>
                <a:spcPct val="100000"/>
              </a:lnSpc>
            </a:pPr>
            <a:r>
              <a:rPr sz="1356">
                <a:solidFill>
                  <a:srgbClr val="1F1F1F"/>
                </a:solidFill>
                <a:latin typeface="Consolas"/>
              </a:rPr>
              <a:t>cd fpga/generated-src/chipyard.fpga.arty100t.Arty100TWithoutDDRHarness.EdhocRocket6475MHzArty100TConfig/obj</a:t>
            </a:r>
          </a:p>
          <a:p>
            <a:pPr algn="l">
              <a:lnSpc>
                <a:spcPct val="100000"/>
              </a:lnSpc>
            </a:pPr>
            <a:r>
              <a:rPr sz="1356">
                <a:solidFill>
                  <a:srgbClr val="1F1F1F"/>
                </a:solidFill>
                <a:latin typeface="Consolas"/>
              </a:rPr>
              <a:t>grep -A6 "Design Timing Summary" report/timing.txt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541007"/>
            <a:ext cx="1143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808080"/>
                </a:solidFill>
                <a:latin typeface="Times New Roman"/>
              </a:rPr>
              <a:t>Do not skip step 2 because the board seems to work: a design that misses timing can fail only now and then, in ways that look like software bugs.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Programming &amp; Bring-up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Program both FPGAs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0266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Run this — SERIALS are our boards: use your two Arty serials (list_boards.sh)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cd fpga/sw/export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BIT=../../generated-src/chipyard.fpga.arty100t.Arty100TWithoutDDRHarness.\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EdhocRocket6475MHzArty100TConfig/obj/Arty100TWithoutDDRHarness.bit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SERIALS="210319B269F6 210319B4A439"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vivado -mode batch -source common/board/program_two.tcl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554224"/>
            <a:ext cx="3840480" cy="604012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PROGRAMMED 210319B269F6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PROGRAMMED 210319B4A439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432555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SERIALS = the Digilent USB serial of each Arty, as printed by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common/board/list_boards.sh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 The script uses a running Vivado GUI’s hardware server if there is one.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At power-up the FPGA loads whatever its QSPI flash holds (on our boards an older design). Symptom: OpenOCD reports “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dtmcontrol is 0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” → program again.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For a board that starts the EDHOC SoC by itself, write the bitstream to the QSPI flash (Vivado → Add Configuration Memory Device).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Programming &amp; Bring-up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Load firmware over JTAG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315200" cy="1465123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65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1F1F1F"/>
                </a:solidFill>
                <a:latin typeface="Consolas"/>
              </a:rPr>
              <a:t>cd fpga/sw/export/tests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1F1F1F"/>
                </a:solidFill>
                <a:latin typeface="Consolas"/>
              </a:rPr>
              <a:t>make gpio_test                          # build a test program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1F1F1F"/>
                </a:solidFill>
                <a:latin typeface="Consolas"/>
              </a:rPr>
              <a:t>BOARD=initiator \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1F1F1F"/>
                </a:solidFill>
                <a:latin typeface="Consolas"/>
              </a:rPr>
              <a:t>  ../common/board/run_one.sh build/gpio_test.elf 5   # load, run, print console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2E7D32"/>
                </a:solidFill>
                <a:latin typeface="Consolas"/>
              </a:rPr>
              <a:t># both boards at once (responder first):</a:t>
            </a:r>
          </a:p>
          <a:p>
            <a:pPr algn="l">
              <a:lnSpc>
                <a:spcPct val="100000"/>
              </a:lnSpc>
            </a:pPr>
            <a:r>
              <a:rPr sz="1165">
                <a:solidFill>
                  <a:srgbClr val="1F1F1F"/>
                </a:solidFill>
                <a:latin typeface="Consolas"/>
              </a:rPr>
              <a:t>../common/board/load_both.sh A.elf B.elf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516683"/>
            <a:ext cx="7315200" cy="1006856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808080"/>
                </a:solidFill>
                <a:latin typeface="Consolas"/>
              </a:rPr>
              <a:t>Run this — what run_one.sh does (simplified)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openocd -c "adapter serial $SERIAL" -f c232hm.cfg \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-c "halt" -c "load_image $ELF" \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-c "resume 0x80000000" -c "shutdown"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914400"/>
            <a:ext cx="411480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400" b="0">
                <a:solidFill>
                  <a:srgbClr val="8B1A1A"/>
                </a:solidFill>
                <a:latin typeface="Consolas"/>
              </a:rPr>
              <a:t>run_one.sh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halt the core, write the ELF into the scratchpad, start at 0x8000_0000, show the console.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Cable and console of each board come from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boards.env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; Lesson 2 shows how to fill it in with your serials.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console tty is found by the board's serial, so moving ttyUSB numbers do not matter (57600 baud).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706418"/>
            <a:ext cx="7315200" cy="576553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11" b="1">
                <a:solidFill>
                  <a:srgbClr val="808080"/>
                </a:solidFill>
                <a:latin typeface="Consolas"/>
              </a:rPr>
              <a:t>Run this — which tty is which board?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1F1F1F"/>
                </a:solidFill>
                <a:latin typeface="Consolas"/>
              </a:rPr>
              <a:t>../common/board/list_boards.sh     # serial and tty of every board and cable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Programming &amp; Bring-up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Bring-up: GPIO and JTAG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5669280" cy="241681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tests/build/gpio_test.elf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=== GPIO test (0x64002000, 8 pins) ===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output_en   : got=ff want=ff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all low     : got=0 want=0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all high    : got=ff want=ff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walking ones (watch the LEDs):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  walk: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xor set     : got=ff want=ff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pattern AA  : got=aa want=aa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pattern 55  : got=55 want=55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GPIO TEST: PASS (0 failures)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914400"/>
            <a:ext cx="5760720" cy="1971910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42" b="1">
                <a:solidFill>
                  <a:srgbClr val="AAAAAA"/>
                </a:solidFill>
                <a:latin typeface="Consolas"/>
              </a:rPr>
              <a:t>tests/build/jtag_test.elf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=== JTAG / debug module test ===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8BE98B"/>
                </a:solidFill>
                <a:latin typeface="Consolas"/>
              </a:rPr>
              <a:t>  Loaded and resumed over JTAG: PASS (this output is the proof)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mhartid     : 0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mvendorid   : 0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marchid     : 1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mimpid      : 20181004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misa low32  : 801105  (MXL=2 -&gt; RV64)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E6E6E6"/>
                </a:solidFill>
                <a:latin typeface="Consolas"/>
              </a:rPr>
              <a:t>  extensions  : ACIMX</a:t>
            </a:r>
          </a:p>
          <a:p>
            <a:pPr algn="l">
              <a:lnSpc>
                <a:spcPct val="100000"/>
              </a:lnSpc>
            </a:pPr>
            <a:r>
              <a:rPr sz="1142">
                <a:solidFill>
                  <a:srgbClr val="8BE98B"/>
                </a:solidFill>
                <a:latin typeface="Consolas"/>
              </a:rPr>
              <a:t>JTAG TEST: PASS (0 failures)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605530"/>
            <a:ext cx="11612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Real output from board A. The GPIO walk lights the four LEDs one after another.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misa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confirms the hardware: MXL = 2 → 64-bit; extensions A, C, I, M (X = non-standard extensions present);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marchid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1 = Rocket.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9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Programming &amp; Bring-up </a:t>
            </a:r>
            <a:r>
              <a:rPr lang="en-US" sz="29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Bring-up: SPI (SD card) and UART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5669280" cy="1611121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tests/build/spi_test.elf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=== SPI test (SPI0 @ 0x64001000, SD slot) ===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sckdiv      : got=c want=c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sckmode     : got=0 want=0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csdef       : got=1 want=1 PASS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  SD CMD0     : R1=1 PASS (card in idle state)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8BE98B"/>
                </a:solidFill>
                <a:latin typeface="Consolas"/>
              </a:rPr>
              <a:t>SPI TEST: PASS (0 failures)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914400"/>
            <a:ext cx="5760720" cy="2060448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00" b="1">
                <a:solidFill>
                  <a:srgbClr val="AAAAAA"/>
                </a:solidFill>
                <a:latin typeface="Consolas"/>
              </a:rPr>
              <a:t>tests/build/uart_test.elf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=== UART test ===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UART0 @ 0x64000000 (console), UART1 @ 0x64003000 (PMOD JB)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UART0 console TX: PASS (you are reading it)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UART0 div   : got=2a want=2a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UART1 div   : got=2a want=2a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UART1 txen  : got=1 want=1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UART1 rxen  : got=1 want=1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UART1 loop  : SKIP (no echo; jumper JB1-JB2 to test)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UART TEST: PASS (0 failures)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249168"/>
            <a:ext cx="11612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SD CMD0 → R1 = 0x01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proves clock, chip select and both data lines work against a real card.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Lesson from bring-up: right after power-up the card answers the first CMD0 with one junk byte (e.g. 0x3f). The test and the firmware send CMD0 again; the second answer is always clean.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UART1 loopback needs a jumper JB1–JB2; without it the step is skipped, not failed.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Programming &amp; Bring-up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Booting from the SD card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851916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sudo fpga/sw/export/tools/mksd.sh /dev/sdX            # once: partitions + FAT32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sudo fpga/sw/export/common/board/sd_boot.sh build/app.bin sdX1   # firmware -&gt; LBA 2048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1994916"/>
          <a:ext cx="749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Card area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LBA 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MBR partition table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LBA 2048 … (partition 1, raw, 32 MiB)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firmware image read by the boot ROM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LBA 67584 … (partition 2, FAT32)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files: SEND.BIN / RECV.BIN (Lesson 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At reset the boot ROM copies 126 sectors (63 KiB) from LBA 2048 into the scratchpad and jumps there.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Known issue: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the boot ROM still sends CMD0 only once, so the first boot after power-up can fail; press reset once more. The fix needs a new bitstream.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No card reader?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tests/sd_prep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formats the card from the board over JTAG.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1994916"/>
            <a:ext cx="3931920" cy="1828800"/>
          </a:xfrm>
          <a:prstGeom prst="rect">
            <a:avLst/>
          </a:prstGeom>
          <a:solidFill>
            <a:srgbClr val="E7E6E6"/>
          </a:solidFill>
          <a:ln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08080"/>
                </a:solidFill>
                <a:latin typeface="Times New Roman"/>
              </a:rPr>
              <a:t>PHOTO</a:t>
            </a:r>
          </a:p>
          <a:p>
            <a:pPr algn="ctr"/>
            <a:r>
              <a:rPr sz="1600" b="0">
                <a:solidFill>
                  <a:srgbClr val="808080"/>
                </a:solidFill>
                <a:latin typeface="Times New Roman"/>
              </a:rPr>
              <a:t>microSD card in the PMOD JA slot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Start Here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 → Hardware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SoC Configuration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FPGA Pins &amp; Harness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&amp; Timing Closure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Programming &amp; Bring-up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Exercises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1: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137160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Add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EdhocRocket128K75MHzArty100TConfig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the same SoC with a 128 KiB scratchpad.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Build it. How many block RAMs does the scratchpad use now? Does 75 MHz still close?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7432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20040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Program both boards with the EDHOC bitstream and run </a:t>
            </a:r>
            <a:r>
              <a:rPr sz="1600" b="0">
                <a:solidFill>
                  <a:srgbClr val="8B1A1A"/>
                </a:solidFill>
                <a:latin typeface="Consolas"/>
              </a:rPr>
              <a:t>gpio_test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>
                <a:solidFill>
                  <a:srgbClr val="8B1A1A"/>
                </a:solidFill>
                <a:latin typeface="Consolas"/>
              </a:rPr>
              <a:t>spi_test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>
                <a:solidFill>
                  <a:srgbClr val="8B1A1A"/>
                </a:solidFill>
                <a:latin typeface="Consolas"/>
              </a:rPr>
              <a:t>jtag_test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600" b="0">
                <a:solidFill>
                  <a:srgbClr val="8B1A1A"/>
                </a:solidFill>
                <a:latin typeface="Consolas"/>
              </a:rPr>
              <a:t>uart_test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on each.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Put a jumper on JB1–JB2 and make the UART1 loopback PASS.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5720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3: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02920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Move UART1 back to PMOD JC (build without </a:t>
            </a:r>
            <a:r>
              <a:rPr sz="1600" b="0">
                <a:solidFill>
                  <a:srgbClr val="8B1A1A"/>
                </a:solidFill>
                <a:latin typeface="Consolas"/>
              </a:rPr>
              <a:t>WithArtyJCRadio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). Which pins change in the generated XDC file?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to put in the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005840"/>
            <a:ext cx="11247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1: your config class, the utilization table (block RAM count) and the Design Timing Summary lines (WNS, failing endpoints).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2: the console output of all four tests on both boards, and a photo of your wiring with the PMOD ports labelled.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3: the pin lines of the generated XDC before and after.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For every step: the command you ran and how long it took on your PC.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Answer notes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2377440"/>
                <a:gridCol w="3931920"/>
              </a:tblGrid>
              <a:tr h="10058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should change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should stay the same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128 KiB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ScratchpadBank: 16 → 32 RAMB36; size = BigInt(128 &lt;&lt; 10) in a copy of EdhocRocket64Config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core, caches and pins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one RAMB36 holds 4 KiB. Timing may or may not still close: read timing.txt. The firmware still uses 64 KiB until memory.lds changes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Tests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UART1 loop: SKIP → PASS with the jumper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every other line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SKIP means “not run”; the jumper lets UART1 hear itself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UART1 → JC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UART1 rxd / txd: E15 / E16 → U12 / V12; GPIO 5 / 7 back to F6 / G4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JA, JD and UART0 pins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WithArtyJCRadio switches these overlays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Negative case to recognise: a bitstream with WNS &lt; 0 may load and even pass a test — reject it anyway (section 5, (5/5)).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1">
                <a:solidFill>
                  <a:srgbClr val="000000"/>
                </a:solidFill>
                <a:latin typeface="Times New Roman"/>
              </a:rPr>
              <a:t>Today’s lecture highlight:</a:t>
            </a:r>
          </a:p>
          <a:p>
            <a:pPr algn="l" marL="256032" indent="-219456">
              <a:buChar char="•"/>
            </a:pPr>
            <a:r>
              <a:rPr sz="1900" b="0" i="1">
                <a:solidFill>
                  <a:srgbClr val="000000"/>
                </a:solidFill>
                <a:latin typeface="Times New Roman"/>
              </a:rPr>
              <a:t>EdhocRocket6475MHzArty100TConfig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= small RV64 Rocket, 8 KiB caches, 64 KiB scratchpad, no DDR, GPIO / 2 UART / 3 SPI / JTAG.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64 KiB because the largest EDHOC build needs 61.4 KB with its stack; 75 MHz because this implementation failed timing at 100 MHz and closes at 75 MHz.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Pins: JA SD card, JB UART1, JC MRF24J40 radio, JD JTAG — set in the shell overlays, selected by config keys.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Accept a bitstream only after its timing report: a failing build still writes a .bit file.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Program both boards, load over JTAG, prove each peripheral with a test program.</a:t>
            </a:r>
          </a:p>
          <a:p>
            <a:pPr algn="ctr"/>
            <a:r>
              <a:rPr sz="2000" b="1" i="1">
                <a:solidFill>
                  <a:srgbClr val="000000"/>
                </a:solidFill>
                <a:latin typeface="Times New Roman"/>
              </a:rPr>
              <a:t>Next lesson: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「 Lesson 2 」 Software environment and tests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