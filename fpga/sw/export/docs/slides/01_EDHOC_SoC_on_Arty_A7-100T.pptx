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  <p:sldId id="911" r:id="rId58"/>
    <p:sldId id="912" r:id="rId59"/>
    <p:sldId id="913" r:id="rId60"/>
    <p:sldId id="914" r:id="rId61"/>
    <p:sldId id="915" r:id="rId62"/>
    <p:sldId id="916" r:id="rId63"/>
    <p:sldId id="917" r:id="rId64"/>
    <p:sldId id="918" r:id="rId65"/>
    <p:sldId id="919" r:id="rId66"/>
    <p:sldId id="920" r:id="rId67"/>
    <p:sldId id="921" r:id="rId68"/>
    <p:sldId id="922" r:id="rId69"/>
    <p:sldId id="923" r:id="rId70"/>
    <p:sldId id="924" r:id="rId71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Relationship Id="rId58" Type="http://schemas.openxmlformats.org/officeDocument/2006/relationships/slide" Target="slides/slide50.xml"/><Relationship Id="rId59" Type="http://schemas.openxmlformats.org/officeDocument/2006/relationships/slide" Target="slides/slide51.xml"/><Relationship Id="rId60" Type="http://schemas.openxmlformats.org/officeDocument/2006/relationships/slide" Target="slides/slide52.xml"/><Relationship Id="rId61" Type="http://schemas.openxmlformats.org/officeDocument/2006/relationships/slide" Target="slides/slide53.xml"/><Relationship Id="rId62" Type="http://schemas.openxmlformats.org/officeDocument/2006/relationships/slide" Target="slides/slide54.xml"/><Relationship Id="rId63" Type="http://schemas.openxmlformats.org/officeDocument/2006/relationships/slide" Target="slides/slide55.xml"/><Relationship Id="rId64" Type="http://schemas.openxmlformats.org/officeDocument/2006/relationships/slide" Target="slides/slide56.xml"/><Relationship Id="rId65" Type="http://schemas.openxmlformats.org/officeDocument/2006/relationships/slide" Target="slides/slide57.xml"/><Relationship Id="rId66" Type="http://schemas.openxmlformats.org/officeDocument/2006/relationships/slide" Target="slides/slide58.xml"/><Relationship Id="rId67" Type="http://schemas.openxmlformats.org/officeDocument/2006/relationships/slide" Target="slides/slide59.xml"/><Relationship Id="rId68" Type="http://schemas.openxmlformats.org/officeDocument/2006/relationships/slide" Target="slides/slide60.xml"/><Relationship Id="rId69" Type="http://schemas.openxmlformats.org/officeDocument/2006/relationships/slide" Target="slides/slide61.xml"/><Relationship Id="rId70" Type="http://schemas.openxmlformats.org/officeDocument/2006/relationships/slide" Target="slides/slide62.xml"/><Relationship Id="rId71" Type="http://schemas.openxmlformats.org/officeDocument/2006/relationships/slide" Target="slides/slide6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Image (code + data)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42505</c:v>
                </c:pt>
                <c:pt idx="1">
                  <c:v>42505</c:v>
                </c:pt>
                <c:pt idx="2">
                  <c:v>43977</c:v>
                </c:pt>
                <c:pt idx="3">
                  <c:v>43977</c:v>
                </c:pt>
                <c:pt idx="4">
                  <c:v>41863</c:v>
                </c:pt>
                <c:pt idx="5">
                  <c:v>43603</c:v>
                </c:pt>
                <c:pt idx="6">
                  <c:v>46595</c:v>
                </c:pt>
                <c:pt idx="7">
                  <c:v>47673</c:v>
                </c:pt>
                <c:pt idx="8">
                  <c:v>48209</c:v>
                </c:pt>
                <c:pt idx="9">
                  <c:v>32718</c:v>
                </c:pt>
                <c:pt idx="10">
                  <c:v>32878</c:v>
                </c:pt>
                <c:pt idx="11">
                  <c:v>37663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Stack reserve</c:v>
                </c:pt>
              </c:strCache>
            </c:strRef>
          </c:tx>
          <c:cat>
            <c:strRef>
              <c:f>Sheet1!$A$2:$A$13</c:f>
              <c:strCache>
                <c:ptCount val="12"/>
                <c:pt idx="0">
                  <c:v>s0</c:v>
                </c:pt>
                <c:pt idx="1">
                  <c:v>s1</c:v>
                </c:pt>
                <c:pt idx="2">
                  <c:v>s2</c:v>
                </c:pt>
                <c:pt idx="3">
                  <c:v>s3</c:v>
                </c:pt>
                <c:pt idx="4">
                  <c:v>s4</c:v>
                </c:pt>
                <c:pt idx="5">
                  <c:v>s5</c:v>
                </c:pt>
                <c:pt idx="6">
                  <c:v>s6</c:v>
                </c:pt>
                <c:pt idx="7">
                  <c:v>s24</c:v>
                </c:pt>
                <c:pt idx="8">
                  <c:v>s25</c:v>
                </c:pt>
                <c:pt idx="9">
                  <c:v>TBD1</c:v>
                </c:pt>
                <c:pt idx="10">
                  <c:v>TBD2</c:v>
                </c:pt>
                <c:pt idx="11">
                  <c:v>TBD3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5376</c:v>
                </c:pt>
                <c:pt idx="1">
                  <c:v>5376</c:v>
                </c:pt>
                <c:pt idx="2">
                  <c:v>8448</c:v>
                </c:pt>
                <c:pt idx="3">
                  <c:v>8448</c:v>
                </c:pt>
                <c:pt idx="4">
                  <c:v>5376</c:v>
                </c:pt>
                <c:pt idx="5">
                  <c:v>8448</c:v>
                </c:pt>
                <c:pt idx="6">
                  <c:v>8448</c:v>
                </c:pt>
                <c:pt idx="7">
                  <c:v>11008</c:v>
                </c:pt>
                <c:pt idx="8">
                  <c:v>12544</c:v>
                </c:pt>
                <c:pt idx="9">
                  <c:v>22016</c:v>
                </c:pt>
                <c:pt idx="10">
                  <c:v>22016</c:v>
                </c:pt>
                <c:pt idx="11">
                  <c:v>23808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7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8.jp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1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EDHOC SoC on Arty A7-100T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lecture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Turn the EDHOC hardware requirement into a Chipyard SoC: 64-bit Rocket, 8 KiB caches, 64 KiB on-chip RAM, GPIO / UART / JTAG / SPI.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Set up your PC and boards from a fresh clone, then map the SoC onto two Arty A7-100T boards: SD card, radio, UART and JTAG on the four PMOD ports.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 the bitstream, close timing at 75 MHz, program both boards and check every peripheral with a test program.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Repository: github.com/Khaiduy/chipyard-edhoc (private: ask the author for access)   ·   paths are relative to its root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(1/12) The learning path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20040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Clone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004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002536" y="914400"/>
            <a:ext cx="141732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Prepare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hardware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0253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L1, L2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173736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3685032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Run a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handshake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85032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3419856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5367528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Understand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the bytes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67528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L3, L4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102352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7050024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Transfer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a file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50024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L5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6784848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ounded Rectangle 76"/>
          <p:cNvSpPr/>
          <p:nvPr/>
        </p:nvSpPr>
        <p:spPr>
          <a:xfrm>
            <a:off x="8732520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Measure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32520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L3–L5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467344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10415016" y="914400"/>
            <a:ext cx="1417320" cy="9144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Diagnose</a:t>
            </a:r>
          </a:p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failures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415016" y="1874519"/>
            <a:ext cx="1417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L2–L5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10149840" y="1371600"/>
            <a:ext cx="265176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365760" y="2468880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the end of the course you can, with only these slides and the repository: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configure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your own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two boards (cables, consoles, wiring);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run one classical (RFC 9528) and one post-quantum (AuthKEM) handshake and explain the important output lines;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send a file from one SD card to the other and prove it arrived intact;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find the cause of a deliberately broken build or link, and restore it.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55778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Lesson map: 1 hardware SoC · 2 software and first runs · 3 EDHOC · 4 post-quantum EDHOC · 5 file transfer, performance, diagnosis.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(2/12) Equipment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731520"/>
                <a:gridCol w="594360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Qty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Arty A7-100T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one board per party (initiator A, responder 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micro-USB cable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power, FPGA programming and the console of each Arty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FTDI C232HM-DDHSL-0 USB–JTAG cable (3.3 V)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core debug on PMOD JD; leave its red VCC wire unconnected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PmodMicroSD + microSD card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JA; any SDHC / SDXC card — it gets erased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MRF24J40MA 802.15.4 module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JC; module-to-JC signal wiring in section 4 (6/9)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SD card reader (optional)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your own files; without one, sd_prep does it over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jumper wires (optional)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wired UART1 link on PMOD JB (GND, TX↔RX crossed); 3× faster than the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3035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Wiring of every PMOD, pin by pin: section 4 (2/9).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(3/12) How everything is connected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63" name="Picture 62" descr="setup_two_bo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1760" y="804672"/>
            <a:ext cx="6692630" cy="5486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365760" y="63550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Same wiring on both boards; the 3 UART wires on JB are optional (TRANSPORT=uart). Pin by pin: section 4 (2/9).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(4/12) Software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2194560"/>
                <a:gridCol w="4114800"/>
              </a:tblGrid>
              <a:tr h="4470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Software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Tested version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Needed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Ubuntu (x86-64)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24.04 LTS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PC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Vivado ML Standard (free) or Vivado Lab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2024.2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building (route A) and programming the FPGAs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Java 17, dtc, jq, firtool (no conda)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17 / 1.61.0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route A only: Chipyard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riscv64-unknown-elf-gcc, rv64imac / lp64 multilib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15.1.0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all firmware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OpenOCD with RISC-V and FTDI support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0.12.0+dev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loading firmware over JTAG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Python 3 (in a venv, command below)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3.12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host tests, timing tables, reference model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Python venv ~/edhoc-venv: pyfatfs, pycryptodome, cryptography, kyber-py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pinned (7/12)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AuthKEM reference model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47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dosfstools (mkfs.vfat, fsck.fat)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FAT32 host test, mksd.sh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USB access without sudo: install Vivado's cable drivers (Digilent) and OpenOCD's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60-openocd.rules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(C232HM), and be in the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dialout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plugdev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groups for the consoles.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Other versions may work; these are the ones every result in the course came from.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Install order: Vivado (6/12), packages and GCC (7/12), the code (8/12), route A extras (9/12), check (10/12).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(5/12) Two routes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566160"/>
                <a:gridCol w="3566160"/>
                <a:gridCol w="1920240"/>
              </a:tblGrid>
              <a:tr h="7010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Route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Your goal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Setup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— full hardware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learn how the SoC is generated and placed on the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(6/12) to (10/12)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 from section 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 — firmware only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run and study the protocols on boards that already hold the EDHOC bitstream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(6/12) to (8/12), then (10/12)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Lesson 1, section 6, then Lesson 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repository is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private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ask the author to add your GitHub account, then clone with your own SSH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No prebuilt bitstream ships with the course: route B needs a bitstream built from the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same revision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(route A), e.g. by your lab, written to the boards' flash or kept as a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firmware tree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fpga/sw/export/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is self-contained (all code vendored) and needs only the toolchain, OpenOCD and Python — not Chipyard.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(6/12) Install Vivado 2024.2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once, after downloading the installer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cd ~/Downloads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chmod +x FPGAs_AdaptiveSoCs_Unified_2024.2_1113_1001_Lin64.bin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./FPGAs_AdaptiveSoCs_Unified_2024.2_1113_1001_Lin64.bin   # installer window opens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2E7D32"/>
                </a:solidFill>
                <a:latin typeface="Consolas"/>
              </a:rPr>
              <a:t>#   Product: Vivado   Edition: Vivado ML Standard   Devices: 7 Series only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2E7D32"/>
                </a:solidFill>
                <a:latin typeface="Consolas"/>
              </a:rPr>
              <a:t>#   Install directory: $HOME/Xilinx (no spaces)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cd $HOME/Xilinx/Vivado/2024.2/data/xicom/cable_drivers/lin64/install_script/install_drivers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sudo ./install_drivers                 # USB drivers for the Arty's programming port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echo 'source $HOME/Xilinx/Vivado/2024.2/settings64.sh' &gt;&gt; ~/.bashrc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source ~/.bashrc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vivado -version | head -1              # Vivado v2024.2 (64-bit)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Download “AMD Unified Installer for FPGAs &amp; Adaptive SoCs 2024.2: Linux Self Extracting Web Installer” from AMD’s Vivado download page (free AMD account).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Vivado ML Standard is free and covers the XC7A100T. Selecting only 7 Series keeps the download small.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Unplug and replug the boards after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install_drivers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Lines added to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~/.bashrc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apply to every new terminal too.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Route B only programs the boards: Vivado Lab Edition should be enough (not tested).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2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(7/12) Packages, Python venv and RISC-V GCC (both routes)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317601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808080"/>
                </a:solidFill>
                <a:latin typeface="Consolas"/>
              </a:rPr>
              <a:t>Run this — once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cd ~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sudo apt install git make wget jq python3 python3-venv openocd dosfstools \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  autoconf automake autotools-dev curl libmpc-dev libmpfr-dev libgmp-dev gawk \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  build-essential bison flex texinfo gperf libtool patchutils bc zlib1g-dev libexpat-dev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python3 -m venv ~/edhoc-venv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~/edhoc-venv/bin/pip install pyfatfs==1.1.0 pycryptodome==3.24.0 cryptography==50.0.2 \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  kyber-py==1.2.0 "setuptools&lt;81"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git clone https://github.com/riscv-collab/riscv-gnu-toolchain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cd riscv-gnu-toolchain &amp;&amp; git checkout 2025.06.07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git config submodule.binutils.url https://github.com/gnutools/binutils-gdb.git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git config submodule.gdb.url https://github.com/gnutools/binutils-gdb.git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git config submodule.newlib.url https://github.com/cygwin/cygwin.git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./configure --prefix=$HOME/opt/riscv --with-multilib-generator="rv64imac-lp64--"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make -j$(nproc)                  # downloads and builds GCC 15.1: ~15 min on 20 cores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1F1F1F"/>
                </a:solidFill>
                <a:latin typeface="Consolas"/>
              </a:rPr>
              <a:t>echo 'export PATH=$HOME/opt/riscv/bin:$PATH' &gt;&gt; ~/.bashrc &amp;&amp; source ~/.bashrc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4227576"/>
            <a:ext cx="114300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The three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git config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lines point the tag’s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newlib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binutils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gdb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sources at their current GitHub mirrors (the original ones are gone); without them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make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stops with “could not read Username”.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Result: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$HOME/opt/riscv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(2.4 GB), on PATH in every terminal. It builds the firmware and, in route A, the boot ROM (Lesson 2, section 1).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000000"/>
                </a:solidFill>
                <a:latin typeface="Times New Roman"/>
              </a:rPr>
              <a:t>Python tests run inside the venv: </a:t>
            </a:r>
            <a:r>
              <a:rPr sz="1200" b="0">
                <a:solidFill>
                  <a:srgbClr val="8B1A1A"/>
                </a:solidFill>
                <a:latin typeface="Consolas"/>
              </a:rPr>
              <a:t>source ~/edhoc-venv/bin/activate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first.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(8/12) Get the code (both routes)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once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~                                    # or any folder whose path has no spaces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git clone git@github.com:Khaiduy/chipyard-edhoc.git chipyard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chipyard &amp;&amp; echo "export REPO=$PWD" &gt;&gt; ~/.bashrc &amp;&amp; source ~/.bashrc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echo $REPO                              # e.g. /home/you/chipyard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506218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From here on every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Run this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box starts with </a:t>
            </a:r>
            <a:r>
              <a:rPr sz="1500" b="0">
                <a:solidFill>
                  <a:srgbClr val="8B1A1A"/>
                </a:solidFill>
                <a:latin typeface="Consolas"/>
              </a:rPr>
              <a:t>cd $REPO/...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it works in any terminal, in any order, also after a reboot.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Only box contents are commands; text after # is a comment.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(9/12) Route A only: Chipyard sources and firtool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01396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Run this — once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sudo apt install openjdk-17-jdk-headless device-tree-compiler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cd $REPO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./scripts/init-submodules-no-riscv-tools.sh       # Chipyard sources, ~7 min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./patches/apply.sh                                # this fork's fpga-shells changes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wget https://github.com/llvm/circt/releases/download/firtool-1.61.0/firrtl-bin-linux-x64.tar.gz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tar xzf firrtl-bin-linux-x64.tar.gz -C $HOME/opt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echo 'export RISCV=$HOME/opt/riscv PATH=$HOME/opt/firtool-1.61.0/bin:$PATH' &gt;&gt; ~/.bashrc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source ~/.bashrc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156965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No conda and no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build-setup.sh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: nothing for Verilator, FireSim or FireMarshal is installed. The submodule script fetches FireSim and FireMarshal sources (~20 MB) only because Chipyard’s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build.sbt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refers to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 i="1">
                <a:solidFill>
                  <a:srgbClr val="000000"/>
                </a:solidFill>
                <a:latin typeface="Times New Roman"/>
              </a:rPr>
              <a:t>RISCV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tells the build where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riscv64-unknown-elf-gcc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is: the boot ROM is compiled during the bitstream build. Disk: ~4 GB here, ~1.5 GB more per build.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(10/12) Readiness check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in a new terminal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for t in vivado riscv64-unknown-elf-gcc openocd firtool java; do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command -v $t &gt;/dev/null || echo "MISSING: $t"; done   # route B: firtool, java not needed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riscv64-unknown-elf-gcc --version | head -1    # ... 15.1.0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$REPO/fpga/sw/export/common/board/list_boards.sh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460498"/>
            <a:ext cx="6858000" cy="1285747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AAAAAA"/>
                </a:solidFill>
                <a:latin typeface="Consolas"/>
              </a:rPr>
              <a:t>Example output — our lab (your serials differ)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FTA6GPSN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210319B4A439  /dev/ttyUSB4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C232HM JTAG   FTA6JVAK  (C232HM-DDHSL-0)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Arty console  210319B269F6  /dev/ttyUSB1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406640" y="2374645"/>
            <a:ext cx="4572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Expect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no MISSING line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then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Arty lines, each with a tty, and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two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C232HM lines.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 i="1">
                <a:solidFill>
                  <a:srgbClr val="000000"/>
                </a:solidFill>
                <a:latin typeface="Times New Roman"/>
              </a:rPr>
              <a:t>common/board/boards.env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ships with our serials: put your four in (Lesson 2, section 2).</a:t>
            </a:r>
          </a:p>
        </p:txBody>
      </p:sp>
      <p:graphicFrame>
        <p:nvGraphicFramePr>
          <p:cNvPr id="66" name="Table 65"/>
          <p:cNvGraphicFramePr>
            <a:graphicFrameLocks noGrp="1"/>
          </p:cNvGraphicFramePr>
          <p:nvPr/>
        </p:nvGraphicFramePr>
        <p:xfrm>
          <a:off x="365760" y="4020564"/>
          <a:ext cx="114300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8412480"/>
              </a:tblGrid>
              <a:tr h="3886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If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Check first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cable, board power switch, Vivado cable drivers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an Arty has no tty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dialout / plugdev group (log out and in), Vivado holding the 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C232HM is missing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 plug, OpenOCD udev rules (0403:6014)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(11/12) How to read the practical slides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cd $REPO/fpga/sw/export/tests &amp;&amp; make gpio_test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868680"/>
            <a:ext cx="5760720" cy="54864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AAAAAA"/>
                </a:solidFill>
                <a:latin typeface="Consolas"/>
              </a:rPr>
              <a:t>Example output — board A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1828800"/>
            <a:ext cx="5486400" cy="54864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Simplified — common/src/sd_card.c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while (busy) ...   /* shortened: not runnable */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274320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Run this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complete commands, in order, with the directory they start from.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Example output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are real console text.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Simplified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boxes shorten source code with “...” — read them, do not paste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lab follows the same steps: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objective → starting state → commands → expected output → what it proves → if it fails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 numbers, tty names and times in examples come from our lab; yours differ. Lesson 2 shows how to set up your own.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Start Here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(12/12) Words used in this course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657600"/>
                <a:gridCol w="1645920"/>
                <a:gridCol w="3931920"/>
              </a:tblGrid>
              <a:tr h="571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Meaning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EDHOC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Ephemeral Diffie-Hellman Over COSE (RFC 9528)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AEAD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encryption + integrity tag (AES-CCM, AES-GCM, ChaCha20/Poly1305)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/ 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board A / board B: who sends message_1 / who answers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key encapsulation: (ct, ss) = Encaps(pk); ss = Decaps(sk, ct)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set of algorithms (curve or KEM, hash, AEAD)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NIST post-quantum KEM (FIPS 203)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method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how each side proves itself: signature or static DH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AuthKEM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post-quantum EDHOC, method 5 (IETF draft)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CBOR / COSE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compact binary encoding / its security formats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PRK_out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shared secret EDHOC ends with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CRED / ID_CRED / kid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 public-key credential / a short reference to it / key id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TH_n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transcript hash: everything sent so far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Digilent 12-pin expansion socket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PERF /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console lines with timing / stack use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623560"/>
            <a:ext cx="114300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Every later lesson uses these words without repeating them; come back here when one is unclear.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The SoC you will build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914400"/>
          <a:ext cx="1124712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4663440"/>
                <a:gridCol w="475488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Setting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Where it is set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one small Rocket, RV64IMAC, no FPU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EdhocRocket64Config: WithNSmallCores(1)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L1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8 KiB I$ + 8 KiB D$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WithL1ICacheSets / WithL1DCacheSets(128)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64 KiB on-chip scratchpad at 0x8000_0000, no DDR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WithMbusScratchpad(64 &lt;&lt; 10), WithNoMemPort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75 MHz for every bus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WithTinyArty100TTweaks(75)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Peripherals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8 GPIO, 2 UART, 3 SPI, JTAG debug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WithDefaultPeripherals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Pins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SD on JA, UART1 on JB, radio on JC, JTAG on 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WithArtyJCRadio + shell overlays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Section 3 shows each setting in the code, section 4 the pins, section 5 the build, section 6 how to check every peripheral on the board.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How much of the 64 KiB each build uses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777240"/>
          <a:ext cx="7498079" cy="5577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955279" y="914400"/>
            <a:ext cx="402336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Bytes per cipher suite: the image and the stack reserve of its largest build (EDHOC suites 0–25 in Lesson 3, post-quantum TBD1–3 in Lesson 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Every build of the course fits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64 KiB = 65,536 B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the largest are suite 25 (60,753 B) and TBD3 (61,471 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any build yourself: Lesson 2, “Will my build fit?”.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79" y="5394960"/>
            <a:ext cx="40233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Default flags: TRANSPORT=rf; no TIMING, DEBUG or APP options.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The 75 MHz clock: where it is set, how to check it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6400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Hardware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new WithTinyArty100TTweaks(75) ++   // every bus clock, in MHz (Configs.scala)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691639"/>
            <a:ext cx="11430000" cy="6400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75" b="1">
                <a:solidFill>
                  <a:srgbClr val="808080"/>
                </a:solidFill>
                <a:latin typeface="Consolas"/>
              </a:rPr>
              <a:t>Firmware</a:t>
            </a:r>
          </a:p>
          <a:p>
            <a:pPr algn="l">
              <a:lnSpc>
                <a:spcPct val="100000"/>
              </a:lnSpc>
            </a:pPr>
            <a:r>
              <a:rPr sz="1475">
                <a:solidFill>
                  <a:srgbClr val="1F1F1F"/>
                </a:solidFill>
                <a:latin typeface="Consolas"/>
              </a:rPr>
              <a:t>PERF_CPU_HZ / F_CPU = 75000000      // UART, SPI and timing math (firmware)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365760" y="2606039"/>
          <a:ext cx="114300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5394960"/>
              </a:tblGrid>
              <a:tr h="475488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To change the clock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Then expect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1. Change the number in Configs.scala and in the 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2. Build the bitstream (section 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about 1 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3. Read report/timing.txt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WNS ≥ 0 and 0 failing endpoints, or the bitstream is not usable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4. Program, then run the bring-up tests (section 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every test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580644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75 MHz meets timing in this flow (Vivado 2024.2). Exercise 3 asks you to try a faster clock.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System You Will Build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The two-board system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A — Initiator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19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657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7373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1089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48056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329184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509320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6400800" y="914400"/>
            <a:ext cx="5394960" cy="68580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Board B — Responder</a:t>
            </a:r>
          </a:p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Arty A7-100T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680960" y="1828800"/>
            <a:ext cx="2834640" cy="91440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Rocket RV64 · 75 MHz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64 KiB scratchpad · 8 KiB I$/D$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JA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microSD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77724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JB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UART1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JC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MRF24J40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515600" y="3108960"/>
            <a:ext cx="1234440" cy="86868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JD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JTAG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9326880" y="4434840"/>
            <a:ext cx="2468880" cy="777240"/>
          </a:xfrm>
          <a:prstGeom prst="roundRect">
            <a:avLst/>
          </a:prstGeom>
          <a:solidFill>
            <a:srgbClr val="EEEEEE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PC: OpenOCD + C232HM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Times New Roman"/>
              </a:rPr>
              <a:t>USB-UART console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11128248" y="3977639"/>
            <a:ext cx="0" cy="457201"/>
          </a:xfrm>
          <a:prstGeom prst="line">
            <a:avLst/>
          </a:prstGeom>
          <a:ln w="25400">
            <a:solidFill>
              <a:srgbClr val="808080"/>
            </a:solidFill>
            <a:tailEnd type="triangle"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>
            <a:off x="372618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Connector 79"/>
          <p:cNvCxnSpPr/>
          <p:nvPr/>
        </p:nvCxnSpPr>
        <p:spPr>
          <a:xfrm>
            <a:off x="9761220" y="2907792"/>
            <a:ext cx="0" cy="201168"/>
          </a:xfrm>
          <a:prstGeom prst="line">
            <a:avLst/>
          </a:prstGeom>
          <a:ln w="3810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3726180" y="2907792"/>
            <a:ext cx="6035040" cy="0"/>
          </a:xfrm>
          <a:prstGeom prst="line">
            <a:avLst/>
          </a:prstGeom>
          <a:ln w="38100">
            <a:solidFill>
              <a:srgbClr val="3786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4526280" y="1874519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37863C"/>
                </a:solidFill>
                <a:latin typeface="Times New Roman"/>
              </a:rPr>
              <a:t>2.4 GHz IEEE 802.15.4 radio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37863C"/>
                </a:solidFill>
                <a:latin typeface="Times New Roman"/>
              </a:rPr>
              <a:t>EDHOC handshake + encrypted file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65760" y="5394960"/>
            <a:ext cx="5760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Same bitstream on both boards; the firmware decides the role.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SD card on JA holds SEND.BIN (board A) and RECV.BIN (board B).</a:t>
            </a:r>
          </a:p>
        </p:txBody>
      </p:sp>
      <p:pic>
        <p:nvPicPr>
          <p:cNvPr id="84" name="Picture 83" descr="setup_two_boa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5257800"/>
            <a:ext cx="1450070" cy="118872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8229600" y="5577840"/>
            <a:ext cx="3657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808080"/>
                </a:solidFill>
                <a:latin typeface="Times New Roman"/>
              </a:rPr>
              <a:t>Full-size picture: section 1, (3/12).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(1/7) One config class builds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7724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bitstream is built from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fpga/src/main/scala/arty100t/Configs.scala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5544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class EdhocRocket6475MHzArty100TConfig extends Config(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WithArtyJCRadio ++                  // board-to-board link: MRF24J40 on PMOD JC (SPI1)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WithTinyArty100TTweaks(75) ++       // Arty shell, peripherals, all bus clocks = 75 MHz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chipyard.config.WithBroadcastManager ++   // coherence without an L2 cache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  new chipyard.EdhocRocket64Config        // the SoC itself (next slide)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331464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Chipyard configs are a chain of fragments joined with </a:t>
            </a:r>
            <a:r>
              <a:rPr sz="1700" b="0">
                <a:solidFill>
                  <a:srgbClr val="8B1A1A"/>
                </a:solidFill>
                <a:latin typeface="Consolas"/>
              </a:rPr>
              <a:t>++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; a fragment on the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left overrides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the ones on its right.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Read it bottom-up: the SoC → how memory coherence works → the board shell and clock → the radio pin variant.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Same pattern as the Chipyard lecture (04: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MyRocketConfig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on Arty 35T), on the 100T board.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(2/7) EdhocRocket64Config: the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73152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generators/chipyard/src/main/scala/config/EdhocConfigs.scala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188720"/>
            <a:ext cx="6949440" cy="165634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class EdhocRocket64Config extends Config(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new freechips.rocketchip.subsystem.WithL1ICacheSets(128) ++     // 8 KiB I-cache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freechips.rocketchip.subsystem.WithL1DCacheSets(128) ++   // 8 KiB D-cache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chipyard.harness.WithDontTouchChipTopPorts(false)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testchipip.soc.WithMbusScratchpad(base = 0x80000000L,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                                      size = BigInt(64 &lt;&lt; 10)) ++  // 64 KiB on-chip SRAM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freechips.rocketchip.subsystem.WithNoMemPort ++           // no DDR / off-chip memory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freechips.rocketchip.subsystem.WithNSmallCores(1) ++      // one small Rocket, RV64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freechips.rocketchip.subsystem.WithoutTLMonitors ++</a:t>
            </a:r>
          </a:p>
          <a:p>
            <a:pPr algn="l">
              <a:lnSpc>
                <a:spcPct val="100000"/>
              </a:lnSpc>
            </a:pPr>
            <a:r>
              <a:rPr sz="939">
                <a:solidFill>
                  <a:srgbClr val="1F1F1F"/>
                </a:solidFill>
                <a:latin typeface="Consolas"/>
              </a:rPr>
              <a:t>    new chipyard.config.AbstractConfig)</a:t>
            </a:r>
          </a:p>
        </p:txBody>
      </p:sp>
      <p:graphicFrame>
        <p:nvGraphicFramePr>
          <p:cNvPr id="65" name="Table 64"/>
          <p:cNvGraphicFramePr>
            <a:graphicFrameLocks noGrp="1"/>
          </p:cNvGraphicFramePr>
          <p:nvPr/>
        </p:nvGraphicFramePr>
        <p:xfrm>
          <a:off x="7498079" y="1188720"/>
          <a:ext cx="44805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37744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Fragment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Effect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WithNSmallCores(1)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 Rocket tile, RV64IMAC, no FPU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WithL1I/DCacheSets(128)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128 sets → 8 KiB caches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WithMbusScratchpad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64 KiB SRAM at 0x8000_0000 (BRAM)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WithNoMemPort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no DDR: all code + data on chip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WithoutTLMonitors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smaller, faster (no protocol checkers)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663440"/>
            <a:ext cx="114300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Everything the firmware uses — code, data, stack — lives in the 64 KiB scratchpad. There is no external RAM on this SoC.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Arty’s 256 MB DDR3 is left unused: the requirement asks for on-chip RAM, and the whole firmware fits on chip.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(3/7) Cache size and fragment order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548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128 sets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834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1 way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709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×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120640" y="1097280"/>
            <a:ext cx="1828800" cy="7315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64 B / line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95160" y="1188720"/>
            <a:ext cx="3657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2600" b="0">
                <a:solidFill>
                  <a:srgbClr val="000000"/>
                </a:solidFill>
                <a:latin typeface="Times New Roman"/>
              </a:rPr>
              <a:t>=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06640" y="1097280"/>
            <a:ext cx="2377440" cy="731520"/>
          </a:xfrm>
          <a:prstGeom prst="roundRect">
            <a:avLst/>
          </a:prstGeom>
          <a:solidFill>
            <a:srgbClr val="C5E0B4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000" b="1">
                <a:solidFill>
                  <a:srgbClr val="000000"/>
                </a:solidFill>
                <a:latin typeface="Times New Roman"/>
              </a:rPr>
              <a:t>8 KiB per cache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2194560"/>
            <a:ext cx="112471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WithNSmallCores(1)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creates the tile with small default caches;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WithL1ICacheSets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WithL1DCacheSets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rewrite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those tile parameters.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rewrite only sees tiles that already exist, so the cache fragments must stay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to the left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of </a:t>
            </a:r>
            <a:r>
              <a:rPr sz="1700" b="0">
                <a:solidFill>
                  <a:srgbClr val="8B1A1A"/>
                </a:solidFill>
                <a:latin typeface="Consolas"/>
              </a:rPr>
              <a:t>WithNSmallCores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in the chain.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Wrong order builds without error but gives the default cache size — check the generated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.dts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/ 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.json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or the utilization report after a change.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Small core = RV64IMAC: integer, multiply/divide, atomics, compressed; no floating point (the firmware is integer-only).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(4/7) Memory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457200" y="86868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2560320"/>
                <a:gridCol w="57607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Address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Size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Device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Used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debugging / program loading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0x0001_0000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Boot ROM (sdboot)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copies the firmware from the SD card at reset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0x0200_0000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CLINT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timer, software interrupts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0x0C00_0000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MiB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PLIC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external interrupts (unused by the firmware)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USB-UART console, 57600 baud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0x6400_1000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microSD card (PMOD JA)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0x6400_2000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GPIO, 8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LEDs, RGB LED, radio ~RST /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 JB (optional wired link)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0x6400_5000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0x6400_6000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 (PMOD JC)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0x8000_0000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64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 SRAM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code, data and stack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The firmware’s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common/include/platform.h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uses the same addresses.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(5/7) Peripherals and their addresses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WithDefaultPeripherals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PeripheryUARTKey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BigInt(0x64000000L)),  // UART0 - USB UART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UARTParams(address = BigInt(0x64003000L)))  // UART1 - PMOD JB (with the radio)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PeripherySPIKey =&gt; List(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BigInt(0x64001000L)),  // SPI0 - SD card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BigInt(0x64006000L)),  // SPI1 - radio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SPIParams(rAddress = BigInt(0x64005000L)))  // SPI2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PeripheryGPIOKey =&gt; List(GPIOParams(address = BigInt(0x64002000L), width = 8))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})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UART, SPI and GPIO blocks are SiFive’s open-source peripherals (</a:t>
            </a:r>
            <a:r>
              <a:rPr sz="1900" b="0" i="1">
                <a:solidFill>
                  <a:srgbClr val="000000"/>
                </a:solidFill>
                <a:latin typeface="Times New Roman"/>
              </a:rPr>
              <a:t>sifive-blocks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), the same as in the Chipyard lecture (04).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Each list entry is one controller instance; the list index is the port number used by the overlays in section 4 (SPI0 → JA, SPI1 → JC).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Addresses are free to choose inside the peripheral bus window; keep them in step with the firmware headers.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(6/7) One clock for the whole SoC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269748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5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class WithTinyArty100TTweaks(freqMHz: Double = 50) extends Config(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chipyard.harness.WithHarnessBinderClockFreqMHz(freqMHz)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chipyard.config.WithMemoryBusFrequency(freqMHz)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chipyard.config.WithFrontBusFrequency(freqMHz)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chipyard.config.WithSystemBusFrequency(freqMHz)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chipyard.config.WithPeripheryBusFrequency(freqMHz)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chipyard.config.WithControlBusFrequency(freqMHz)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chipyard.config.WithOffchipBusFrequency(freqMHz)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chipyard.clocking.WithPassthroughClockGenerator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WithArty100TUARTHarnessBinder ++ new WithArty100TSPISDCardHarnessBinder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WithArty100TJTAGHarnessBinder ++ new WithArty100TGPIOHarnessBinder ++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</a:pPr>
            <a:r>
              <a:rPr sz="1150">
                <a:solidFill>
                  <a:srgbClr val="1F1F1F"/>
                </a:solidFill>
                <a:latin typeface="Consolas"/>
              </a:rPr>
              <a:t>  new WithDefaultPeripherals ++ new WithSystemModifications ++ ...)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914400"/>
            <a:ext cx="41148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(75)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all seven bus clocks at once.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Chipyard 1.11 added front / control / off-chip bus clocks that default to 500 MHz; every bus in the clock group must ask for the same frequency.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board’s 100 MHz oscillator (pin E3) feeds a PLL that makes 75 MHz.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Firmware must know the clock too: </a:t>
            </a:r>
            <a:r>
              <a:rPr sz="1500" b="0">
                <a:solidFill>
                  <a:srgbClr val="8B1A1A"/>
                </a:solidFill>
                <a:latin typeface="Consolas"/>
              </a:rPr>
              <a:t>PERF_CPU_HZ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/ </a:t>
            </a:r>
            <a:r>
              <a:rPr sz="1500" b="0">
                <a:solidFill>
                  <a:srgbClr val="8B1A1A"/>
                </a:solidFill>
                <a:latin typeface="Consolas"/>
              </a:rPr>
              <a:t>F_CPU</a:t>
            </a:r>
            <a:r>
              <a:rPr sz="1700" b="0">
                <a:solidFill>
                  <a:srgbClr val="808080"/>
                </a:solidFill>
                <a:latin typeface="Times New Roman"/>
              </a:rPr>
              <a:t> = 75000000 (UART divider, SPI dividers, timing reports).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SoC Configuration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(7/7) Boot ROM rebuilt for RV64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41681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fpga/src/main/scala/arty100t/Configs.scala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class WithSystemModifications extends Config((site, here, up) =&gt; {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case BootROMLocated(x) =&gt; up(BootROMLocated(x), site).map{ p =&gt;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freqMHz = (site(SystemBusKey).dtsFrequency.get / (1000 * 1000)).toLong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val make = s"make -C fpga/src/main/resources/arty35t/sdboot " +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s"XLEN=${site(XLen)} PBUS_CLK=${freqMHz}"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require (make.! == 0, "Failed to build bootrom")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p.copy(hang = 0x10000, size = 0x2000,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contentFileName = s"./fpga/src/main/resources/arty35t/sdboot/build/sdboot.bin")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59809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bitstream build recompiles the boot ROM for the core width (</a:t>
            </a:r>
            <a:r>
              <a:rPr sz="1700" b="0">
                <a:solidFill>
                  <a:srgbClr val="8B1A1A"/>
                </a:solidFill>
                <a:latin typeface="Consolas"/>
              </a:rPr>
              <a:t>XLEN=64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 and the bus clock (</a:t>
            </a:r>
            <a:r>
              <a:rPr sz="1700" b="0">
                <a:solidFill>
                  <a:srgbClr val="8B1A1A"/>
                </a:solidFill>
                <a:latin typeface="Consolas"/>
              </a:rPr>
              <a:t>PBUS_CLK=75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At reset the boot ROM copies the firmware from the SD card (LBA 2048) into the scratchpad and jumps to 0x8000_0000.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During development you can skip it: firmware is loaded over JTAG in seconds (section 6).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(1/9) PMOD map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377440"/>
                <a:gridCol w="2468880"/>
                <a:gridCol w="5760720"/>
              </a:tblGrid>
              <a:tr h="60350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Controller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Pins (PMOD pin: FPGA pin)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PmodMicroSD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SPI0 @0x6400_1000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G13 · 2 MOSI: B11 · 3 MISO: A11 · 4 SCK: D12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UART1 @0x6400_3000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RX: E15 · 2 TX: E16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MRF24J40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SPI1 @0x6400_6000 + GPIO 5 / 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CS: U12 · 2 MOSI: V12 · 3 MISO: V10 · 4 SCK: V11 · 7 INT: U14 · 8 ~RST: V14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 (C232HM cable)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Debug module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TDI: D4 · 2 TMS: D3 · 3 TCK: F4 · 4 TDO: F3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pic>
        <p:nvPicPr>
          <p:cNvPr id="64" name="Picture 63" descr="arty_pmo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023360"/>
            <a:ext cx="2244436" cy="246888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6126480" y="4114800"/>
            <a:ext cx="56692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selects this map (radio on JC, UART1 on JB).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USB-UART console (UART0) uses the on-board FTDI chip, no PMOD.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(2/9) Wiring: pin numbers, direction, power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716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2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2860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00400" y="96012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4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5 GND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029200" y="96012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6 3.3V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7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716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8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2860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9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00400" y="1508760"/>
            <a:ext cx="822960" cy="45720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1148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11 GND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0" y="1508760"/>
            <a:ext cx="822960" cy="457200"/>
          </a:xfrm>
          <a:prstGeom prst="roundRect">
            <a:avLst/>
          </a:prstGeom>
          <a:solidFill>
            <a:srgbClr val="FFFFFF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200" b="0">
                <a:solidFill>
                  <a:srgbClr val="000000"/>
                </a:solidFill>
                <a:latin typeface="Times New Roman"/>
              </a:rPr>
              <a:t>12 3.3V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914400"/>
            <a:ext cx="585216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Every PMOD is a 2 × 6 socket: top row 1–6, bottom row 7–12. Pins 5 / 11 are GND, 6 / 12 are 3.3 V. Pin 1 is marked on the board's silkscreen.</a:t>
            </a:r>
          </a:p>
        </p:txBody>
      </p:sp>
      <p:graphicFrame>
        <p:nvGraphicFramePr>
          <p:cNvPr id="76" name="Table 75"/>
          <p:cNvGraphicFramePr>
            <a:graphicFrameLocks noGrp="1"/>
          </p:cNvGraphicFramePr>
          <p:nvPr/>
        </p:nvGraphicFramePr>
        <p:xfrm>
          <a:off x="365760" y="2240280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291840"/>
                <a:gridCol w="2743200"/>
                <a:gridCol w="3931920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→ module (outputs)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module → FPGA (inputs)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Power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JA  SD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GND, 6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JB  UART1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TX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RX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GND; to the other board: TX → RX, RX ← TX, GND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 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CS, 2 MOSI, 4 SCK, 8 ~RST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MISO, 7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/ 11 GND, 6 / 12 3.3 V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  JTAG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TDO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 TDI, 2 TMS, 3 TCK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GND (black wire); red VCC unconnected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77" name="TextBox 76"/>
          <p:cNvSpPr txBox="1"/>
          <p:nvPr/>
        </p:nvSpPr>
        <p:spPr>
          <a:xfrm>
            <a:off x="365760" y="507492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wiring on both boards. The SD and radio modules take 3.3 V from the PMOD; the C232HM only shares ground.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Check before power-on: every module's GND on pin 5 (and 11), no 5 V anywhere.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(3/9) From SoC port to FPGA pin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1143000"/>
            <a:ext cx="2560320" cy="11887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DigitalTop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SoC: UART, SPI,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GPIO, JTAG ports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184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IOBinder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port → IO cell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(ChipTop)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292608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217920" y="1143000"/>
            <a:ext cx="2560320" cy="118872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HarnessBinder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IO cell → shell port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(Arty100TWithoutDDRHarness)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85216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144000" y="1143000"/>
            <a:ext cx="2560320" cy="11887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Shell overlay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shell port → package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pin + IO standard (XDC)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778240" y="1737360"/>
            <a:ext cx="36576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2651760"/>
          <a:ext cx="114300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7406640"/>
              </a:tblGrid>
              <a:tr h="48768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File (fpga/src/main/scala/arty100t/)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What this tree changes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Configs.scala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 configs, peripherals, clock tweak, radio switch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IOBinders.scala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/ GPIO punch-through ports (WithArtySPIIOPunchthrough)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HarnessBinders.scala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UART, SPI-SD, JTAG (PMOD JD), GPIO binders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CustomShell.scala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shell with 3 SPI overlays, 2 UARTs, JTAG, GPIO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CustomOverlay.scala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package pins of every overlay (next slides)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1" name="TextBox 70"/>
          <p:cNvSpPr txBox="1"/>
          <p:nvPr/>
        </p:nvSpPr>
        <p:spPr>
          <a:xfrm>
            <a:off x="365760" y="5760720"/>
            <a:ext cx="11430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Same three levels as in the Chipyard lecture (04): DigitalTop → ChipTop → ChipHarness.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(4/9) SD card on PMOD JA (SPI0)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400800" cy="1410207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14" b="1">
                <a:solidFill>
                  <a:srgbClr val="808080"/>
                </a:solidFill>
                <a:latin typeface="Consolas"/>
              </a:rPr>
              <a:t>CustomOverlay.scala — SDIOArtyPlacedOverlay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case 0 =&gt; Seq(("D12", IOPin(io.spi_clk)),    // SPI0 - PMOD JA (SD card)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("B11", IOPin(io.spi_cs)),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("A11", IOPin(io.spi_dat(0))),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("D13", IOPin(io.spi_dat(1))),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("B18", IOPin(io.spi_dat(2))),</a:t>
            </a:r>
          </a:p>
          <a:p>
            <a:pPr algn="l">
              <a:lnSpc>
                <a:spcPct val="100000"/>
              </a:lnSpc>
            </a:pPr>
            <a:r>
              <a:rPr sz="1114">
                <a:solidFill>
                  <a:srgbClr val="1F1F1F"/>
                </a:solidFill>
                <a:latin typeface="Consolas"/>
              </a:rPr>
              <a:t>              ("G13", IOPin(io.spi_dat(3))))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461767"/>
          <a:ext cx="6400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097280"/>
                <a:gridCol w="128016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Overlay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Carries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PmodMicroSD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G13  spi_dat(3)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chip select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B11  spi_cs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 (command)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MOSI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A11  spi_dat(0)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 (data 0)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MISO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D12  spi_clk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JA4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6949440" y="914400"/>
            <a:ext cx="493776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SDIO overlay uses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SD-card pin names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: the pin called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spi_cs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carries MOSI, and CS goes out on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dat(3)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Pull-ups on CS, MOSI and MISO.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Same pins as upstream Chipyard’s Arty 100T SD slot.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Card init at ~150 kHz, data at ~2.3 MHz (SPI mode).</a:t>
            </a:r>
          </a:p>
        </p:txBody>
      </p:sp>
      <p:pic>
        <p:nvPicPr>
          <p:cNvPr id="66" name="Picture 65" descr="pmodmicros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5532120"/>
            <a:ext cx="914400" cy="9144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371600" y="576072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PmodMicroSD (pin 1 = CS, top); image: Digilent Inc.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(5/9) MRF24J40 radio on PMOD JC (SPI1 + GPIO)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6035040" cy="161987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4" b="1">
                <a:solidFill>
                  <a:srgbClr val="808080"/>
                </a:solidFill>
                <a:latin typeface="Consolas"/>
              </a:rPr>
              <a:t>CustomOverlay.scala — SPI1 with the radio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case 1 if shell.p(ArtyJCRadioKey) =&gt;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Seq(("V11", IOPin(io.spi_clk)),    // JC4 SCK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("V12", IOPin(io.spi_cs)),     // JC2 MOSI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("V10", IOPin(io.spi_dat(0))), // JC3 MISO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("F6",  IOPin(io.spi_dat(1))),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("G4",  IOPin(io.spi_dat(2))), // unused (freed RGB LED pin)</a:t>
            </a:r>
          </a:p>
          <a:p>
            <a:pPr algn="l">
              <a:lnSpc>
                <a:spcPct val="100000"/>
              </a:lnSpc>
            </a:pPr>
            <a:r>
              <a:rPr sz="1144">
                <a:solidFill>
                  <a:srgbClr val="1F1F1F"/>
                </a:solidFill>
                <a:latin typeface="Consolas"/>
              </a:rPr>
              <a:t>      ("U12", IOPin(io.spi_dat(3)))) // JC1 CS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671433"/>
            <a:ext cx="6035040" cy="129844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80" b="1">
                <a:solidFill>
                  <a:srgbClr val="808080"/>
                </a:solidFill>
                <a:latin typeface="Consolas"/>
              </a:rPr>
              <a:t>CustomOverlay.scala — GPIO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val gpioLocations = List("H5", "J5", "T9", "T10",  // 4 LEDs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"E1",                     // RGB LED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"V14" else "F6", // JC8 ~RST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"G6",</a:t>
            </a:r>
          </a:p>
          <a:p>
            <a:pPr algn="l">
              <a:lnSpc>
                <a:spcPct val="100000"/>
              </a:lnSpc>
            </a:pPr>
            <a:r>
              <a:rPr sz="1180">
                <a:solidFill>
                  <a:srgbClr val="1F1F1F"/>
                </a:solidFill>
                <a:latin typeface="Consolas"/>
              </a:rPr>
              <a:t>                         if (radio) "U14" else "G4") // JC7 INT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83680" y="914400"/>
            <a:ext cx="530352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8B1A1A"/>
                </a:solidFill>
                <a:latin typeface="Consolas"/>
              </a:rPr>
              <a:t>WithArtyJCRadio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sets </a:t>
            </a:r>
            <a:r>
              <a:rPr sz="1500" b="0">
                <a:solidFill>
                  <a:srgbClr val="8B1A1A"/>
                </a:solidFill>
                <a:latin typeface="Consolas"/>
              </a:rPr>
              <a:t>ArtyJCRadioKey = true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; the overlays then pick the radio pinout.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MRF24J40MA: IEEE 802.15.4, 2.4 GHz, 250 kbit/s; SPI at 4.7 MHz.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GPIO 5 drives the radio’s reset, GPIO 7 reads its interrupt line (polled).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Two RGB-LED pins are given up for this.</a:t>
            </a:r>
          </a:p>
        </p:txBody>
      </p:sp>
      <p:pic>
        <p:nvPicPr>
          <p:cNvPr id="66" name="Picture 65" descr="mrf24J40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4152761"/>
            <a:ext cx="960120" cy="96012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463040" y="4427081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MRF24J40MA, on a PMOD adapter on JC; image: Microchip Technology.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(6/9) Radio adapter: module pins to PMOD JC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108960"/>
                <a:gridCol w="2103120"/>
                <a:gridCol w="2103120"/>
                <a:gridCol w="182880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MRF24J40MA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Direction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 JC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 CS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chip select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  SDI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data in (MOSI)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7  SDO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data out (MISO)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→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  SCK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SPI clock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  INT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interrupt (polled by GPIO 7)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 → FPGA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U14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  RESET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reset, active low (GPIO 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FPGA → radio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V14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  VIN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3.3 V supply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JC6 (or 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 11, 12  GND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ground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JC5 (or 11)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 WAKE, 9  NC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not used by the 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25780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Connect the module signals to the JC pins shown here; check the module pin numbers against the MRF24J40MA data sheet.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JC column is fixed by the bitstream (section 4, (5/9)).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(7/9) UART0 console and UART1 on PMOD JB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680960" cy="256898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73" b="1">
                <a:solidFill>
                  <a:srgbClr val="808080"/>
                </a:solidFill>
                <a:latin typeface="Consolas"/>
              </a:rPr>
              <a:t>CustomOverlay.scala — UARTArtyPlacedOverlay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UART0: USB UART (A9=RX, D10=TX)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2E7D32"/>
                </a:solidFill>
                <a:latin typeface="Consolas"/>
              </a:rPr>
              <a:t>// UART1: PMOD C (U12=RX, V12=TX), or PMOD B (E15=RX, E16=TX) with the radio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val packagePinsWithPackageIOs = shellInput.index match {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0 =&gt; Seq(("A9",  IOPin(io.rxd)),    // USB UART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("D10", IOPin(io.txd)))    // USB UART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if shell.p(ArtyJCRadioKey) =&gt; Seq(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("E15", IOPin(io.rxd)),    // PMOD B JB1 -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("E16", IOPin(io.txd)))    // PMOD B JB2 -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case 1 =&gt; Seq(("U12", IOPin(io.rxd)),    // PMOD C JC1 - RX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                ("V12", IOPin(io.txd)))    // PMOD C JC2 - TX</a:t>
            </a:r>
          </a:p>
          <a:p>
            <a:pPr algn="l">
              <a:lnSpc>
                <a:spcPct val="100000"/>
              </a:lnSpc>
            </a:pPr>
            <a:r>
              <a:rPr sz="1273">
                <a:solidFill>
                  <a:srgbClr val="1F1F1F"/>
                </a:solidFill>
                <a:latin typeface="Consolas"/>
              </a:rPr>
              <a:t>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914400"/>
            <a:ext cx="3749039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UART0 = console through the board’s USB port, 57600 baud, 8N1.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= optional wired link between the boards (TRANSPORT=uart).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With the radio, UART1 moves from JC to JB.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711982"/>
            <a:ext cx="114300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Each board shows up as two ttyUSB devices; the console is interface 1 of the Digilent FTDI. Find it by serial number, because ttyUSB numbers change when Vivado or OpenOCD opens a port (section 6).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(8/9) JTAG on PMOD JD with a C232HM cable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667512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7244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C232HM wire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FTDI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Signal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PMOD JD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FPGA pin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Orange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Yellow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Green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TDO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Brown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ADBUS3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TMS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Black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JD5 (GND)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3886200"/>
            <a:ext cx="6675120" cy="161112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fpga/sw/export/common/board/c232hm.cfg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source [find interface/ftdi/c232hm.cfg]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transport select jtag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adapter speed 1000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2E7D32"/>
                </a:solidFill>
                <a:latin typeface="Consolas"/>
              </a:rPr>
              <a:t># RISC-V debug DTM: 5-bit IR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jtag newtap riscv tap -irlen 5 -ignore-version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target create riscv.cpu riscv -chain-position riscv.tap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914400"/>
            <a:ext cx="475488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core’s debug module is wired to PMOD JD, not to the board’s USB JTAG (that one programs the FPGA).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One C232HM per board; scripts pick the cable by its FTDI serial (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common/board/boards.env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JTAG clock 1 MHz (</a:t>
            </a:r>
            <a:r>
              <a:rPr sz="1500" b="0">
                <a:solidFill>
                  <a:srgbClr val="8B1A1A"/>
                </a:solidFill>
                <a:latin typeface="Consolas"/>
              </a:rPr>
              <a:t>adapter speed 1000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).</a:t>
            </a:r>
          </a:p>
        </p:txBody>
      </p:sp>
      <p:pic>
        <p:nvPicPr>
          <p:cNvPr id="66" name="Picture 65" descr="C232H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4800600"/>
            <a:ext cx="1574684" cy="146304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869680" y="51206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808080"/>
                </a:solidFill>
                <a:latin typeface="Times New Roman"/>
              </a:rPr>
              <a:t>C232HM-DDHSL-0: flying leads to JD, USB to the PC; image: FTDI.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FPGA Pins &amp; Harness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(9/9) Makefile entry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23703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fpga/Makefile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ifeq ($(SUB_PROJECT),arty100t)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SBT_PROJECT       ?= fpga_platforms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             ?= Arty100TWithoutDDRHarness   # was Arty100THarness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VLOG_MODEL        ?= Arty100TWithoutDDRHarness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MODEL_PACKAGE 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            ?= SmallRocket32Arty100TConfig  # default; override on the command line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CONFIG_PACKAGE    ?= chipyard.fpga.arty100t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GENERATOR_PACKAGE ?= chipyard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	...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3513328"/>
            <a:ext cx="1143000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8B1A1A"/>
                </a:solidFill>
                <a:latin typeface="Consolas"/>
              </a:rPr>
              <a:t>SUB_PROJECT ?= arty100t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is now the default sub-project (upstream: vcu118).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Arty100TWithoutDDRHarness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the harness without the DDR3 controller (the SoC has no memory port).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EDHOC config is chosen at build time: </a:t>
            </a:r>
            <a:r>
              <a:rPr sz="1700" b="0">
                <a:solidFill>
                  <a:srgbClr val="8B1A1A"/>
                </a:solidFill>
                <a:latin typeface="Consolas"/>
              </a:rPr>
              <a:t>CONFIG=EdhocRocket6475MHzArty100TConfig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(next section).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Build the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1430000" cy="1192783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600" b="1">
                <a:solidFill>
                  <a:srgbClr val="808080"/>
                </a:solidFill>
                <a:latin typeface="Consolas"/>
              </a:rPr>
              <a:t>Run this — about 1 h on a recent PC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cd $REPO/fpga               # setup of section 1, (6/12)-(9/12), done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make SUB_PROJECT=arty100t CONFIG=EdhocRocket6475MHzArty100TConfig bitstream</a:t>
            </a:r>
          </a:p>
          <a:p>
            <a:pPr algn="l">
              <a:lnSpc>
                <a:spcPct val="100000"/>
              </a:lnSpc>
            </a:pPr>
            <a:r>
              <a:rPr sz="1600">
                <a:solidFill>
                  <a:srgbClr val="1F1F1F"/>
                </a:solidFill>
                <a:latin typeface="Consolas"/>
              </a:rPr>
              <a:t>echo $?                    # 0 = make finished; nonzero = something failed: read the log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381502"/>
            <a:ext cx="114300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Output folder: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fpga/generated-src/chipyard.fpga.arty100t.Arty100TWithoutDDRHarness.EdhocRocket6475MHzArty100TConfig/obj/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 i="1">
                <a:solidFill>
                  <a:srgbClr val="000000"/>
                </a:solidFill>
                <a:latin typeface="Times New Roman"/>
              </a:rPr>
              <a:t>Arty100TWithoutDDRHarness.bit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— the bitstream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report/utilization.txt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— check these after every build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4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400" b="0" i="1">
                <a:solidFill>
                  <a:srgbClr val="000000"/>
                </a:solidFill>
                <a:latin typeface="Times New Roman"/>
              </a:rPr>
              <a:t>post_route.dcp</a:t>
            </a:r>
            <a:r>
              <a:rPr sz="1400" b="0">
                <a:solidFill>
                  <a:srgbClr val="000000"/>
                </a:solidFill>
                <a:latin typeface="Times New Roman"/>
              </a:rPr>
              <a:t> — checkpoints for timing closure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1">
                <a:solidFill>
                  <a:srgbClr val="000000"/>
                </a:solidFill>
                <a:latin typeface="Times New Roman"/>
              </a:rPr>
              <a:t>Careful: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exit status 0 does not mean timing was met, and a failed flow may still leave a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.bit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Timing is decided only by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read it before using a new bitstream.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Lines like </a:t>
            </a:r>
            <a:r>
              <a:rPr sz="1400" b="0">
                <a:solidFill>
                  <a:srgbClr val="8B1A1A"/>
                </a:solidFill>
                <a:latin typeface="Consolas"/>
              </a:rPr>
              <a:t>make: [...] Error 1 (ignored)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are normal: a Chipyard copy step that has no files to copy in the FPGA flow.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Resources used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914400"/>
          <a:ext cx="73152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645920"/>
                <a:gridCol w="2103120"/>
                <a:gridCol w="11887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Resource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Available (XC7A100T)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Use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Slice LUTs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14,767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63,400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23.3 %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Flip-flops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6,716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126,800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5.3 %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Block RAM (36 Kb)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34 + 10 half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28.9 %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DSP slices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240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4.2 %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863840" y="914400"/>
            <a:ext cx="41148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16 of the 34 block RAMs are the 64 KiB scratchpad (16 × 4 KiB).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rest: caches, boot ROM, peripheral FIFOs.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Your numbers should be close to these; the scratchpad must use 16 RAMB36.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84048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From </a:t>
            </a:r>
            <a:r>
              <a:rPr sz="1600" b="0" i="1">
                <a:solidFill>
                  <a:srgbClr val="808080"/>
                </a:solidFill>
                <a:latin typeface="Times New Roman"/>
              </a:rPr>
              <a:t>report/utilization.txt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 (</a:t>
            </a:r>
            <a:r>
              <a:rPr sz="1400" b="0">
                <a:solidFill>
                  <a:srgbClr val="8B1A1A"/>
                </a:solidFill>
                <a:latin typeface="Consolas"/>
              </a:rPr>
              <a:t>report_utilization -hierarchical</a:t>
            </a:r>
            <a:r>
              <a:rPr sz="1600" b="0">
                <a:solidFill>
                  <a:srgbClr val="808080"/>
                </a:solidFill>
                <a:latin typeface="Times New Roman"/>
              </a:rPr>
              <a:t>):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29768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Instance                  | Module         | Total LUTs |  FFs | RAMB36 | RAMB18 | DSP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Arty100TWithoutDDRHarness |          (top) |      14767 | 6716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chiptop0                | ChipTop        |      14761 | 6630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system                | DigitalTop     |      14759 | 6624 |     34 |     10 |  10 |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|       bank                | ScratchpadBank |         67 |  109 |     16 |      0 |   0 |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Reading the timing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 i="1">
                <a:solidFill>
                  <a:srgbClr val="000000"/>
                </a:solidFill>
                <a:latin typeface="Times New Roman"/>
              </a:rPr>
              <a:t>report/timing.txt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— Design Timing Summary, 75 MHz build: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1280160"/>
            <a:ext cx="11430000" cy="113080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WNS(ns)  TNS(ns)  TNS Failing Endpoints  TNS Total Endpoints   WHS(ns)  THS(ns)  THS Failing Endpoints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0.002    0.000                      0                24148     0.037    0.000                      0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Clock                      WNS(ns)  TNS(ns)  TNS Failing  TNS Total   WHS(ns)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clk_out1_harnessSysPLL     0.002    0.000            0      23458     0.037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JTCK                        41.450    0.000            0        548     0.109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2685288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WNS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(worst negative slack) ≥ 0 and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0 failing endpoints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for setup (TNS) and hold (THS) = timing met.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clk_out1_harnessSysPLL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75 MHz system clock;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JTCK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the JTAG clock from PMOD JD (10 MHz constraint, easily met).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If WNS is negative or Vivado crashes: the closure recipe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22960"/>
            <a:ext cx="114300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Use it when WNS is a little below 0 (e.g. −0.17 ns), or when make stops with error 139 (“Abnormal program termination (11)”) after routing. Do not rebuild from scratch: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post_opt.dcp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already written.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Start Vivado in the build’s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obj/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folder and paste a part; for part 2, exit and start a new Vivado: </a:t>
            </a:r>
            <a:r>
              <a:rPr sz="1600" b="0">
                <a:solidFill>
                  <a:srgbClr val="8B1A1A"/>
                </a:solidFill>
                <a:latin typeface="Consolas"/>
              </a:rPr>
              <a:t>cd $REPO/fpga/generated-src/chipyard.fpga.arty100t.Arty100TWithoutDDRHarness.EdhocRocket6475MHzArty100TConfig/obj &amp;&amp; vivado -mode tcl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240280"/>
            <a:ext cx="7498079" cy="1409699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Part 1 — place and route again (~15 min)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open_checkpoint post_opt.dcp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place_design    -directive 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AlternateFlowWithRetiming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route_design    -directive AggressiveExplore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write_checkpoint -force post_route.dcp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3832858"/>
            <a:ext cx="7498079" cy="1409699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808080"/>
                </a:solidFill>
                <a:latin typeface="Consolas"/>
              </a:rPr>
              <a:t>Part 2 — new Vivado; if it crashes, run part 2 again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open_checkpoint post_route.dcp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phys_opt_design -directive Explore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file mkdir report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report_timing_summary -file report/timing.txt ;# WNS and WHS &gt;= 0?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write_bitstream -force Arty100TWithoutDDRHarness.bit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046720" y="2240280"/>
            <a:ext cx="39319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Example: WNS −0.740 ns after part 1, +0.006 ns after part 2 (WHS +0.026 ns).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Still negative after part 2? Before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report_timing_summary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add </a:t>
            </a:r>
            <a:r>
              <a:rPr sz="1300" b="0">
                <a:solidFill>
                  <a:srgbClr val="8B1A1A"/>
                </a:solidFill>
                <a:latin typeface="Consolas"/>
              </a:rPr>
              <a:t>route_design -directive AggressiveExplore -tns_cleanup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and one more </a:t>
            </a:r>
            <a:r>
              <a:rPr sz="1300" b="0">
                <a:solidFill>
                  <a:srgbClr val="8B1A1A"/>
                </a:solidFill>
                <a:latin typeface="Consolas"/>
              </a:rPr>
              <a:t>phys_opt_design -directive Explore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Then accept the bitstream as in (5/5).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Build &amp; Timing Closure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How to accept a new bitstream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5029200"/>
              </a:tblGrid>
              <a:tr h="496388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Step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Look at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Accept when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 Build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exit status of make, then the log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0; nonzero = build failed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2. Timing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Design Timing Summary in report/timing.txt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WNS ≥ 0 and WHS ≥ 0, 0 failing endpoints (TNS and THS)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 Area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report/utilization.txt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 uses 16 RAMB36 (64 KiB)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4. Program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program_two.tcl (section 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PROGRAMMED &lt;serial&gt; for both boards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5. Bring-up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jtag, gpio, spi, uart tests (section 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each ends in PASS; jtag_test shows MXL = 2, ACIMX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6. Keep it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copy the .bit with config name and date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Rectangle 63"/>
          <p:cNvSpPr/>
          <p:nvPr/>
        </p:nvSpPr>
        <p:spPr>
          <a:xfrm>
            <a:off x="365760" y="4526280"/>
            <a:ext cx="11430000" cy="798360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84" b="1">
                <a:solidFill>
                  <a:srgbClr val="808080"/>
                </a:solidFill>
                <a:latin typeface="Consolas"/>
              </a:rPr>
              <a:t>Run this — step 2</a:t>
            </a:r>
          </a:p>
          <a:p>
            <a:pPr algn="l">
              <a:lnSpc>
                <a:spcPct val="100000"/>
              </a:lnSpc>
            </a:pPr>
            <a:r>
              <a:rPr sz="1284">
                <a:solidFill>
                  <a:srgbClr val="1F1F1F"/>
                </a:solidFill>
                <a:latin typeface="Consolas"/>
              </a:rPr>
              <a:t>cd $REPO/fpga/generated-src/chipyard.fpga.arty100t.Arty100TWithoutDDRHarness.EdhocRocket6475MHzArty100TConfig/obj</a:t>
            </a:r>
          </a:p>
          <a:p>
            <a:pPr algn="l">
              <a:lnSpc>
                <a:spcPct val="100000"/>
              </a:lnSpc>
            </a:pPr>
            <a:r>
              <a:rPr sz="1284">
                <a:solidFill>
                  <a:srgbClr val="1F1F1F"/>
                </a:solidFill>
                <a:latin typeface="Consolas"/>
              </a:rPr>
              <a:t>grep -A6 "Design Timing Summary" report/timing.txt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5507520"/>
            <a:ext cx="114300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808080"/>
                </a:solidFill>
                <a:latin typeface="Times New Roman"/>
              </a:rPr>
              <a:t>Do not skip step 2 because the board seems to work: a design that misses timing can fail only now and then, in ways that look like software bugs.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Program both FPGAs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02664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SERIALS are our boards: use your two Arty serials (list_boards.sh)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$REPO/fpga/sw/export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BIT=../../generated-src/chipyard.fpga.arty100t.Arty100TWithoutDDRHarness.\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EdhocRocket6475MHzArty100TConfig/obj/Arty100TWithoutDDRHarness.bit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SERIALS="210319B269F6 210319B4A439" \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vivado -mode batch -source common/board/program_two.tcl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554224"/>
            <a:ext cx="3840480" cy="604012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210319B269F6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PROGRAMMED 210319B4A439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432555"/>
            <a:ext cx="114300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SERIALS = the Digilent USB serial of each Arty, as printed by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common/board/list_boards.sh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 The script uses a running Vivado GUI’s hardware server if there is one.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At power-up the FPGA loads whatever its QSPI flash holds (e.g. an older design). Symptom: OpenOCD reports “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dtmcontrol is 0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” → program again.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For a board that starts the EDHOC SoC by itself, write the bitstream to the QSPI flash (Vivado → Add Configuration Memory Device).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Load firmware over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7315200" cy="1139631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11" b="1">
                <a:solidFill>
                  <a:srgbClr val="808080"/>
                </a:solidFill>
                <a:latin typeface="Consolas"/>
              </a:rPr>
              <a:t>Run this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cd $REPO/fpga/sw/export/tests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make gpio_test                          # build a test program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BOARD=initiator ../common/board/run_one.sh build/gpio_test.elf 5   # board A</a:t>
            </a:r>
          </a:p>
          <a:p>
            <a:pPr algn="l">
              <a:lnSpc>
                <a:spcPct val="100000"/>
              </a:lnSpc>
            </a:pPr>
            <a:r>
              <a:rPr sz="1211">
                <a:solidFill>
                  <a:srgbClr val="1F1F1F"/>
                </a:solidFill>
                <a:latin typeface="Consolas"/>
              </a:rPr>
              <a:t>BOARD=responder ../common/board/run_one.sh build/gpio_test.elf 5   # board B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191191"/>
            <a:ext cx="7315200" cy="1004809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96" b="1">
                <a:solidFill>
                  <a:srgbClr val="808080"/>
                </a:solidFill>
                <a:latin typeface="Consolas"/>
              </a:rPr>
              <a:t>Simplified — what run_one.sh does ($SERIAL, $ELF are set by the script)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openocd -c "adapter serial $SERIAL" -f c232hm.cfg \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  -c "halt" -c "load_image $ELF" \</a:t>
            </a:r>
          </a:p>
          <a:p>
            <a:pPr algn="l">
              <a:lnSpc>
                <a:spcPct val="100000"/>
              </a:lnSpc>
            </a:pPr>
            <a:r>
              <a:rPr sz="1296">
                <a:solidFill>
                  <a:srgbClr val="1F1F1F"/>
                </a:solidFill>
                <a:latin typeface="Consolas"/>
              </a:rPr>
              <a:t>  -c "resume 0x80000000" -c "shutdown"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63840" y="914400"/>
            <a:ext cx="4114800" cy="5394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400" b="0">
                <a:solidFill>
                  <a:srgbClr val="8B1A1A"/>
                </a:solidFill>
                <a:latin typeface="Consolas"/>
              </a:rPr>
              <a:t>run_one.sh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: halt the core, write the ELF into the scratchpad, start at 0x8000_0000, show the console.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Both boards at once (responder first): </a:t>
            </a:r>
            <a:r>
              <a:rPr sz="1400" b="0">
                <a:solidFill>
                  <a:srgbClr val="8B1A1A"/>
                </a:solidFill>
                <a:latin typeface="Consolas"/>
              </a:rPr>
              <a:t>load_both.sh &lt;initiator.elf&gt; &lt;responder.elf&gt;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, used from Lesson 3 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Cable and console of each board come 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boards.env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It ships with our serials: put yours in first (Lesson 2, section 2, (1/3)–(2/3)).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console tty is found by the board's serial, so moving ttyUSB numbers do not matter (57600 baud).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3378880"/>
            <a:ext cx="7315200" cy="549086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22" b="1">
                <a:solidFill>
                  <a:srgbClr val="808080"/>
                </a:solidFill>
                <a:latin typeface="Consolas"/>
              </a:rPr>
              <a:t>Run this — which tty is which board?</a:t>
            </a:r>
          </a:p>
          <a:p>
            <a:pPr algn="l">
              <a:lnSpc>
                <a:spcPct val="100000"/>
              </a:lnSpc>
            </a:pPr>
            <a:r>
              <a:rPr sz="1122">
                <a:solidFill>
                  <a:srgbClr val="1F1F1F"/>
                </a:solidFill>
                <a:latin typeface="Consolas"/>
              </a:rPr>
              <a:t>$REPO/fpga/sw/export/common/board/list_boards.sh   # serial and tty of every board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Bring-up: GPIO and JTAG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24168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tests/build/gpio_test.elf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GPIO test (0x64002000, 8 pins)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output_en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low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all high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 walking ones (watch the LEDs):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  walk: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xor set     : got=ff want=ff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AA  : got=aa want=aa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pattern 55  : got=55 want=55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GPIO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1971910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142" b="1">
                <a:solidFill>
                  <a:srgbClr val="AAAAAA"/>
                </a:solidFill>
                <a:latin typeface="Consolas"/>
              </a:rPr>
              <a:t>tests/build/jtag_test.elf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=== JTAG / debug module test ===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  Loaded and resumed over JTAG: PASS (this output is the proof)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mhartid  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mvendorid   : 0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marchid     : 1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mimpid      : 20181004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misa low32  : 801105  (MXL=2 -&gt; RV64)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E6E6E6"/>
                </a:solidFill>
                <a:latin typeface="Consolas"/>
              </a:rPr>
              <a:t>  extensions  : ACIMX</a:t>
            </a:r>
          </a:p>
          <a:p>
            <a:pPr algn="l">
              <a:lnSpc>
                <a:spcPct val="100000"/>
              </a:lnSpc>
            </a:pPr>
            <a:r>
              <a:rPr sz="1142">
                <a:solidFill>
                  <a:srgbClr val="8BE98B"/>
                </a:solidFill>
                <a:latin typeface="Consolas"/>
              </a:rPr>
              <a:t>JTAG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605530"/>
            <a:ext cx="116128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Real output from board A. The GPIO walk lights the four LEDs one after another.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misa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confirms the hardware: MXL = 2 → 64-bit; extensions A, C, I, M (X = non-standard extensions present);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marchid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1 = Rocket.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9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29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Bring-up: SPI (SD card) and UART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5669280" cy="1611121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300" b="1">
                <a:solidFill>
                  <a:srgbClr val="AAAAAA"/>
                </a:solidFill>
                <a:latin typeface="Consolas"/>
              </a:rPr>
              <a:t>tests/build/spi_test.elf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SPI test (SPI0 @ 0x64001000, SD slot)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sckdiv      : got=c want=c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sckmode     : got=0 want=0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csdef       : got=1 want=1 PASS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  SD CMD0     : R1=1 PASS (card in idle state)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8BE98B"/>
                </a:solidFill>
                <a:latin typeface="Consolas"/>
              </a:rPr>
              <a:t>SPI TEST: PASS (0 failures)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17920" y="914400"/>
            <a:ext cx="5760720" cy="2060448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200" b="1">
                <a:solidFill>
                  <a:srgbClr val="AAAAAA"/>
                </a:solidFill>
                <a:latin typeface="Consolas"/>
              </a:rPr>
              <a:t>tests/build/uart_test.elf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=== UART test ===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UART0 @ 0x64000000 (console), UART1 @ 0x64003000 (PMOD JB)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console TX: PASS (you are reading it)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UART0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div   : got=2a want=2a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txen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  UART1 rxen  : got=1 want=1 PASS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UART1 loop  : SKIP (no echo; jumper JB1-JB2 to test)</a:t>
            </a:r>
          </a:p>
          <a:p>
            <a:pPr algn="l">
              <a:lnSpc>
                <a:spcPct val="100000"/>
              </a:lnSpc>
            </a:pPr>
            <a:r>
              <a:rPr sz="1200">
                <a:solidFill>
                  <a:srgbClr val="8BE98B"/>
                </a:solidFill>
                <a:latin typeface="Consolas"/>
              </a:rPr>
              <a:t>UART TEST: PASS (0 failures)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3249168"/>
            <a:ext cx="116128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1">
                <a:solidFill>
                  <a:srgbClr val="000000"/>
                </a:solidFill>
                <a:latin typeface="Times New Roman"/>
              </a:rPr>
              <a:t>SD CMD0 → R1 = 0x01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proves clock, chip select and both data lines work against a real card.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Right after power-up the card can answer the first CMD0 with one junk byte (e.g. 0x3f). The boot ROM, this test and the firmware send CMD0 again; the second answer is clean.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UART1 loopback needs a jumper JB1–JB2; without it the step is skipped, not failed.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Programming &amp; Bring-up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Booting from the SD card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06883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400" b="1">
                <a:solidFill>
                  <a:srgbClr val="808080"/>
                </a:solidFill>
                <a:latin typeface="Consolas"/>
              </a:rPr>
              <a:t>Run this — sdX = your card reader (lsblk)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cd $REPO/fpga/sw/export/tests &amp;&amp; make gpio_test      # -&gt; build/gpio_test.bin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../tools/mksd.sh /dev/sdX                       # once; ERASES the card</a:t>
            </a:r>
          </a:p>
          <a:p>
            <a:pPr algn="l">
              <a:lnSpc>
                <a:spcPct val="100000"/>
              </a:lnSpc>
            </a:pPr>
            <a:r>
              <a:rPr sz="1400">
                <a:solidFill>
                  <a:srgbClr val="1F1F1F"/>
                </a:solidFill>
                <a:latin typeface="Consolas"/>
              </a:rPr>
              <a:t>sudo ../common/board/sd_boot.sh build/gpio_test.bin sdX1    # image -&gt; LBA 2048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211832"/>
          <a:ext cx="7498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35661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Card area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Content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MBR partition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2048 … (partition 1, raw, 32 MiB)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firmware image read by the boot ROM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LBA 67584 … (partition 2, FAT32)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files: SEND.BIN / RECV.BIN (Lesson 5)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4114800"/>
            <a:ext cx="1143000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At reset the boot ROM copies 126 sectors (63 KiB) from LBA 2048 into the scratchpad and jumps there.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Check: put the card into JA, press RESET (also right after inserting the card). Expect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GPIO TEST: PASS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on the console within a few seconds. The boot ROM’s own lines (INIT … BOOT) come first at another baud rate and look garbled at 57600.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Only garbled lines, no PASS: the boot ROM found no valid image at LBA 2048. Write it again.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No card reader? First format the card with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sd_prep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(Lesson 5). In </a:t>
            </a:r>
            <a:r>
              <a:rPr sz="1500" b="0" i="1">
                <a:solidFill>
                  <a:srgbClr val="000000"/>
                </a:solidFill>
                <a:latin typeface="Times New Roman"/>
              </a:rPr>
              <a:t>tests/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: </a:t>
            </a:r>
            <a:r>
              <a:rPr sz="1300" b="0">
                <a:solidFill>
                  <a:srgbClr val="8B1A1A"/>
                </a:solidFill>
                <a:latin typeface="Consolas"/>
              </a:rPr>
              <a:t>cp build/gpio_test.bin build/boot.bin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, then </a:t>
            </a:r>
            <a:r>
              <a:rPr sz="1300" b="0">
                <a:solidFill>
                  <a:srgbClr val="8B1A1A"/>
                </a:solidFill>
                <a:latin typeface="Consolas"/>
              </a:rPr>
              <a:t>make -B sd_prep EXTRA_CFLAGS=-DSD_PREP_BOOT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. Load it with </a:t>
            </a:r>
            <a:r>
              <a:rPr sz="1300" b="0">
                <a:solidFill>
                  <a:srgbClr val="8B1A1A"/>
                </a:solidFill>
                <a:latin typeface="Consolas"/>
              </a:rPr>
              <a:t>BOARD=initiator ../common/board/run_one.sh build/sd_prep.elf 30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, then press RESET.</a:t>
            </a:r>
          </a:p>
        </p:txBody>
      </p:sp>
      <p:pic>
        <p:nvPicPr>
          <p:cNvPr id="66" name="Picture 65" descr="pmodmicrosd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0" y="2211832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Start Here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System You Will Build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SoC Configuration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FPGA Pins &amp; Harness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Build &amp; Timing Closure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Programming &amp; Bring-up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Add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EdhocRocket128K75MHzArty100TConfig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the same SoC with a 128 KiB scratchpad.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Build it. How many block RAMs does the scratchpad use now? Does 75 MHz still close?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7432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32004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Program both boards with the EDHOC bitstream and run </a:t>
            </a:r>
            <a:r>
              <a:rPr sz="1600" b="0">
                <a:solidFill>
                  <a:srgbClr val="8B1A1A"/>
                </a:solidFill>
                <a:latin typeface="Consolas"/>
              </a:rPr>
              <a:t>gpio_test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spi_test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</a:t>
            </a:r>
            <a:r>
              <a:rPr sz="1600" b="0">
                <a:solidFill>
                  <a:srgbClr val="8B1A1A"/>
                </a:solidFill>
                <a:latin typeface="Consolas"/>
              </a:rPr>
              <a:t>jtag_test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</a:t>
            </a:r>
            <a:r>
              <a:rPr sz="1600" b="0">
                <a:solidFill>
                  <a:srgbClr val="8B1A1A"/>
                </a:solidFill>
                <a:latin typeface="Consolas"/>
              </a:rPr>
              <a:t>uart_test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on each.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Put a jumper on JB1–JB2 and make the UART1 loopback PASS.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45720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02920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Copy the config with </a:t>
            </a:r>
            <a:r>
              <a:rPr sz="1600" b="0">
                <a:solidFill>
                  <a:srgbClr val="8B1A1A"/>
                </a:solidFill>
                <a:latin typeface="Consolas"/>
              </a:rPr>
              <a:t>WithTinyArty100TTweaks(100)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build it. Read the Design Timing Summary: would you accept this bitstream?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your config class, the utilization table (block RAM count) and the Design Timing Summary lines (WNS, failing endpoints).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console output of all four tests on both boards, and a photo of your wiring with the PMOD ports labelled.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the Design Timing Summary lines and your decision, with the rule from section 5 (5/5).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For every step: the command you ran and how long it took on your PC.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3657600"/>
                <a:gridCol w="2377440"/>
                <a:gridCol w="3931920"/>
              </a:tblGrid>
              <a:tr h="100584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change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should stay the same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128 KiB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ScratchpadBank: 16 → 32 RAMB36; size = BigInt(128 &lt;&lt; 10) in a copy of EdhocRocket64Config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core, caches and pins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one RAMB36 holds 4 KiB. Timing may or may not still close: read timing.txt. The firmware still uses 64 KiB until memory.lds changes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Tests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UART1 loop: SKIP → PASS with the jumper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every other line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SKIP means “not run”; the jumper lets UART1 hear itself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100584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100 MHz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WNS clearly negative (about −3.2 ns in this flow) and thousands of failing endpoints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build itself still finishes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reject it: the critical path inside the Rocket core needs about 13 ns here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12064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Negative case to recognise: a bitstream with WNS &lt; 0 may load and even pass a test — reject it anyway (section 5, (5/5)).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lecture highlight:</a:t>
            </a:r>
          </a:p>
          <a:p>
            <a:pPr algn="l" marL="256032" indent="-219456">
              <a:buChar char="•"/>
            </a:pPr>
            <a:r>
              <a:rPr sz="1900" b="0" i="1">
                <a:solidFill>
                  <a:srgbClr val="000000"/>
                </a:solidFill>
                <a:latin typeface="Times New Roman"/>
              </a:rPr>
              <a:t>EdhocRocket6475MHzArty100TConfig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= small RV64 Rocket, 8 KiB caches, 64 KiB scratchpad, no DDR, GPIO / 2 UART / 3 SPI / JTAG.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Every build of the course fits the 64 KiB scratchpad (largest 61.5 KB with its stack); the clock is set in one place and checked in report/timing.txt.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Pins: JA SD card, JB UART1, JC MRF24J40 radio, JD JTAG — set in the shell overlays, selected by config keys.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Accept a bitstream only after its timing report: a failing build still writes a .bit file.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Program both boards, load over JTAG, prove each peripheral with a test program.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2 」 Software environment and tests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